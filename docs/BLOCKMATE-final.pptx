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da4a414014983" /><Relationship Type="http://schemas.openxmlformats.org/officeDocument/2006/relationships/extended-properties" Target="/docProps/app.xml" Id="Rc82d333c5e52449f" /><Relationship Type="http://schemas.openxmlformats.org/officeDocument/2006/relationships/officeDocument" Target="/ppt/presentation.xml" Id="R0600a9b29131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4837391894b63"/>
  </p:sldMasterIdLst>
  <p:notesMasterIdLst>
    <p:notesMasterId xmlns:r="http://schemas.openxmlformats.org/officeDocument/2006/relationships" r:id="R6ae89481b14c4350"/>
  </p:notesMasterIdLst>
  <p:sldIdLst>
    <p:sldId xmlns:r="http://schemas.openxmlformats.org/officeDocument/2006/relationships" id="256" r:id="Rea24a98432cb470d"/>
    <p:sldId xmlns:r="http://schemas.openxmlformats.org/officeDocument/2006/relationships" id="257" r:id="R69d1d214b31a449b"/>
    <p:sldId xmlns:r="http://schemas.openxmlformats.org/officeDocument/2006/relationships" id="258" r:id="Rc9e432e17d294eed"/>
    <p:sldId xmlns:r="http://schemas.openxmlformats.org/officeDocument/2006/relationships" id="259" r:id="R885fd745374e446f"/>
    <p:sldId xmlns:r="http://schemas.openxmlformats.org/officeDocument/2006/relationships" id="260" r:id="Rb90ecbe9f7af4b9b"/>
    <p:sldId xmlns:r="http://schemas.openxmlformats.org/officeDocument/2006/relationships" id="261" r:id="Rb2dfbac4810c480e"/>
    <p:sldId xmlns:r="http://schemas.openxmlformats.org/officeDocument/2006/relationships" id="262" r:id="Rac7172d4d1724f44"/>
    <p:sldId xmlns:r="http://schemas.openxmlformats.org/officeDocument/2006/relationships" id="263" r:id="R0a8da85b64cf4465"/>
    <p:sldId xmlns:r="http://schemas.openxmlformats.org/officeDocument/2006/relationships" id="264" r:id="R71458c07bfc140cd"/>
    <p:sldId xmlns:r="http://schemas.openxmlformats.org/officeDocument/2006/relationships" id="265" r:id="R47f46159db97484f"/>
    <p:sldId xmlns:r="http://schemas.openxmlformats.org/officeDocument/2006/relationships" id="266" r:id="Rf51cb13ba4464b83"/>
    <p:sldId xmlns:r="http://schemas.openxmlformats.org/officeDocument/2006/relationships" id="267" r:id="R578d7d68c249497f"/>
    <p:sldId xmlns:r="http://schemas.openxmlformats.org/officeDocument/2006/relationships" id="268" r:id="R6371b26363df4f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544d060fc4d17" /><Relationship Type="http://schemas.openxmlformats.org/officeDocument/2006/relationships/slideMaster" Target="/ppt/slideMasters/slideMaster1.xml" Id="R0014837391894b63" /><Relationship Type="http://schemas.openxmlformats.org/officeDocument/2006/relationships/notesMaster" Target="/ppt/notesMasters/notesMaster1.xml" Id="R6ae89481b14c4350" /><Relationship Type="http://schemas.openxmlformats.org/officeDocument/2006/relationships/presProps" Target="/ppt/presProps.xml" Id="Rfacab4d7c58c47c7" /><Relationship Type="http://schemas.openxmlformats.org/officeDocument/2006/relationships/tableStyles" Target="/ppt/tableStyles.xml" Id="Re605649c3e884ca7" /><Relationship Type="http://schemas.openxmlformats.org/officeDocument/2006/relationships/slide" Target="/ppt/slides/slide1.xml" Id="Rea24a98432cb470d" /><Relationship Type="http://schemas.openxmlformats.org/officeDocument/2006/relationships/slide" Target="/ppt/slides/slide2.xml" Id="R69d1d214b31a449b" /><Relationship Type="http://schemas.openxmlformats.org/officeDocument/2006/relationships/slide" Target="/ppt/slides/slide3.xml" Id="Rc9e432e17d294eed" /><Relationship Type="http://schemas.openxmlformats.org/officeDocument/2006/relationships/slide" Target="/ppt/slides/slide4.xml" Id="R885fd745374e446f" /><Relationship Type="http://schemas.openxmlformats.org/officeDocument/2006/relationships/slide" Target="/ppt/slides/slide5.xml" Id="Rb90ecbe9f7af4b9b" /><Relationship Type="http://schemas.openxmlformats.org/officeDocument/2006/relationships/slide" Target="/ppt/slides/slide6.xml" Id="Rb2dfbac4810c480e" /><Relationship Type="http://schemas.openxmlformats.org/officeDocument/2006/relationships/slide" Target="/ppt/slides/slide7.xml" Id="Rac7172d4d1724f44" /><Relationship Type="http://schemas.openxmlformats.org/officeDocument/2006/relationships/slide" Target="/ppt/slides/slide8.xml" Id="R0a8da85b64cf4465" /><Relationship Type="http://schemas.openxmlformats.org/officeDocument/2006/relationships/slide" Target="/ppt/slides/slide9.xml" Id="R71458c07bfc140cd" /><Relationship Type="http://schemas.openxmlformats.org/officeDocument/2006/relationships/slide" Target="/ppt/slides/slide10.xml" Id="R47f46159db97484f" /><Relationship Type="http://schemas.openxmlformats.org/officeDocument/2006/relationships/slide" Target="/ppt/slides/slide11.xml" Id="Rf51cb13ba4464b83" /><Relationship Type="http://schemas.openxmlformats.org/officeDocument/2006/relationships/slide" Target="/ppt/slides/slide12.xml" Id="R578d7d68c249497f" /><Relationship Type="http://schemas.openxmlformats.org/officeDocument/2006/relationships/slide" Target="/ppt/slides/slide13.xml" Id="R6371b26363df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487951c3f5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dc8ab8cfd49a7" /><Relationship Type="http://schemas.openxmlformats.org/officeDocument/2006/relationships/notesMaster" Target="/ppt/notesMasters/notesMaster1.xml" Id="Rd70178e9345f46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bb99013d34b5b" /><Relationship Type="http://schemas.openxmlformats.org/officeDocument/2006/relationships/notesMaster" Target="/ppt/notesMasters/notesMaster1.xml" Id="R2b280b7c619042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4e819891e4ff7" /><Relationship Type="http://schemas.openxmlformats.org/officeDocument/2006/relationships/notesMaster" Target="/ppt/notesMasters/notesMaster1.xml" Id="R5a02dcdb1b6f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a1a940e04d4458" /><Relationship Type="http://schemas.openxmlformats.org/officeDocument/2006/relationships/notesMaster" Target="/ppt/notesMasters/notesMaster1.xml" Id="R0f3fc0745b6f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a9c0f4b134938" /><Relationship Type="http://schemas.openxmlformats.org/officeDocument/2006/relationships/notesMaster" Target="/ppt/notesMasters/notesMaster1.xml" Id="R2a0a2cabcbd147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9bcc6807ad4179" /><Relationship Type="http://schemas.openxmlformats.org/officeDocument/2006/relationships/notesMaster" Target="/ppt/notesMasters/notesMaster1.xml" Id="R484090f9154749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debd23ceff422a" /><Relationship Type="http://schemas.openxmlformats.org/officeDocument/2006/relationships/notesMaster" Target="/ppt/notesMasters/notesMaster1.xml" Id="R76d77c3632494c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d732aeadd54eef" /><Relationship Type="http://schemas.openxmlformats.org/officeDocument/2006/relationships/notesMaster" Target="/ppt/notesMasters/notesMaster1.xml" Id="R7f1497ad83ad4d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15c9d1c7db4378" /><Relationship Type="http://schemas.openxmlformats.org/officeDocument/2006/relationships/notesMaster" Target="/ppt/notesMasters/notesMaster1.xml" Id="R1ac15cbef91b4d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b1fe435c614887" /><Relationship Type="http://schemas.openxmlformats.org/officeDocument/2006/relationships/notesMaster" Target="/ppt/notesMasters/notesMaster1.xml" Id="Ra71c6b3b9b0f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d230854cd34407" /><Relationship Type="http://schemas.openxmlformats.org/officeDocument/2006/relationships/notesMaster" Target="/ppt/notesMasters/notesMaster1.xml" Id="R78ea0ff27db84e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b3664d3aa947e8" /><Relationship Type="http://schemas.openxmlformats.org/officeDocument/2006/relationships/notesMaster" Target="/ppt/notesMasters/notesMaster1.xml" Id="R9babfce7f73342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83b5b6accd4f1e" /><Relationship Type="http://schemas.openxmlformats.org/officeDocument/2006/relationships/notesMaster" Target="/ppt/notesMasters/notesMaster1.xml" Id="Re3fdf141e194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Presentación: 6/11/2026. Evidencia actualizada al 31/10/2026. Fuente: README.md y docs/integridad-y-cierre.md en RAMA-VICTORIA.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README.md; Game, MatchSession, StandardGame. La captura de portada es el recurso existente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WebServer, ConsoleUI, IMatchService, MatchSession, IGameService, IGameRepository, IChessAi. Flechas sólidas: usa. Flecha discontinua: implementa. Vista resumida; UML completo en docs/UML-Ajedrez-TPO.pdf.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Piece.java, PieceFactory.java, PieceType.java e IMovementStrategy.java. Sólo PawnMovement redefine canAttack; QueenMovement hereda el método por defecto.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ICommand, MoveCommand, Game. Cada comando conserva una copia de 64 referencias y los metadatos; las piezas son inmutables. Historial O(m × 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MoveValidator, ValidationResult, MoveResult y app/MoveMessages. Se conserva el contrato textual de las otras operaciones de Game y MatchSession.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MatchSession, SavedMatch e IMatchService del commit d37cbe4. El tiempo activo persistente es elapsedMillis. presence(clientId, active) informa actividad; isClockRunning consulta el reloj. Vencimiento a 15 s y heartbeat a 5 s. El UML corregido incluye estas firmas. Al reiniciar, la sesión espera una vista activa.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docs/arquitectura.md. El docente acepta 8×8 y cambios centrales al incorporar tipos.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docs/arquitectura.md, secciones Agregar una pieza y Adaptar el tablero. Son propuestas futuras, no funcionalidades implementadas.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docs/evidencias/2026-10-31-etapa4-83903e2/resumen.json. 31 ChessTest + 16 FeatureTest + 4 ValidationTest + 2 BoardPathTest + 9 ActivityClockTest = 62. mvn clean test: 0 fallos/errores/omitidos. Código de producción sin cambios entre 83903e2 y d37cbe4. Las comprobaciones adicionales de navegador y respaldo se registran en la etapa 6; no forman parte del conteo JUnit.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README.md, código y docs/UML-Ajedrez-TPO.puml. UML: seis vistas, 37 tipos públicos, API declarada y relaciones principales; omite privados y miembros generados o heredados.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docs/rendimiento.md y docs/evidencias/2026-10-31-etapas5-6-d37cbe4/resumen.json. Java 21.0.6, i7-1255U, RAM 16 GB, Windows 11, Chrome 155. JFR profile. IA: 3 calentamientos + 10 repeticiones, semilla 20261031, apertura e4 e5 Nf3 Nc6 Bb5 a6. Consulta legal b5 Java: mediana 0,0221 ms, 1000 muestras. Interfaz e2 inicial: 10 calentamientos + 30 muestras; 82,876 ms incluye automatización y no es tiempo puro de render. Java heap +21.232 bytes, incluye lista de referencias débiles del instrumento. Heap JS +104.280 bytes; sin análisis de retenedores no se concluye ausencia ni presencia de fuga.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docs/integridad-y-cierre.md, docs/dependencias-y-recursos.md y docs/registro-incidencias.md. Revisión técnica asistida, no auditoría independiente. Simulacro automatizado: copiar con servidor detenido, reemplazar solo partida de prueba, restaurar bytes y validar estado y redo. Las dependencias están inventariadas; no se asignó una licencia al proyecto sin decisión de sus autores. La IA de juego es minimax local y es distinta de la asistencia generativa usada para preparar el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9c010a6a248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23b835ade49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fcf3d35b748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9beddb63642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6a15c2ee240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910ab2788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945317-4BAD-4F19-93AC-F5A9FBC07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5A7D1B-8D13-4A4E-869C-60B3C4F393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FADDBE-6D75-4AD3-ABB3-FD8C3F114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13577-8F41-4908-BA84-1459BA906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5208F4-1623-4A82-8E41-32AB4D64CF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C5524A-E282-41E4-991D-E9724303B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43AF12-E035-43B3-968D-C78CF1755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DDE2D9-DB2C-4450-BC40-54297CF6C5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F3856B-FCEA-4C04-86A3-67B61CBD3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D98736-86B2-427A-9C38-C40E7C634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1625ef6964b2a" /><Relationship Type="http://schemas.openxmlformats.org/officeDocument/2006/relationships/slideLayout" Target="/ppt/slideLayouts/slideLayout1.xml" Id="Rce1cb2823a274dca" /><Relationship Type="http://schemas.openxmlformats.org/officeDocument/2006/relationships/slideLayout" Target="/ppt/slideLayouts/slideLayout2.xml" Id="R5cd82ab47b084b6a" /><Relationship Type="http://schemas.openxmlformats.org/officeDocument/2006/relationships/slideLayout" Target="/ppt/slideLayouts/slideLayout3.xml" Id="R0c6695911ac1418d" /><Relationship Type="http://schemas.openxmlformats.org/officeDocument/2006/relationships/slideLayout" Target="/ppt/slideLayouts/slideLayout4.xml" Id="R96f003025d744460" /><Relationship Type="http://schemas.openxmlformats.org/officeDocument/2006/relationships/slideLayout" Target="/ppt/slideLayouts/slideLayout5.xml" Id="R0dd47fa87a6c446c" /><Relationship Type="http://schemas.openxmlformats.org/officeDocument/2006/relationships/slideLayout" Target="/ppt/slideLayouts/slideLayout6.xml" Id="Raedb70b0ccd749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1cb2823a274dca"/>
    <p:sldLayoutId xmlns:r="http://schemas.openxmlformats.org/officeDocument/2006/relationships" id="2147483650" r:id="R5cd82ab47b084b6a"/>
    <p:sldLayoutId xmlns:r="http://schemas.openxmlformats.org/officeDocument/2006/relationships" id="2147483651" r:id="R0c6695911ac1418d"/>
    <p:sldLayoutId xmlns:r="http://schemas.openxmlformats.org/officeDocument/2006/relationships" id="2147483652" r:id="R96f003025d744460"/>
    <p:sldLayoutId xmlns:r="http://schemas.openxmlformats.org/officeDocument/2006/relationships" id="2147483653" r:id="R0dd47fa87a6c446c"/>
    <p:sldLayoutId xmlns:r="http://schemas.openxmlformats.org/officeDocument/2006/relationships" id="2147483654" r:id="Raedb70b0ccd7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012d572d84299" /><Relationship Type="http://schemas.openxmlformats.org/officeDocument/2006/relationships/image" Target="/ppt/media/image.png" Id="Rb75c7bff2605427b" /><Relationship Type="http://schemas.openxmlformats.org/officeDocument/2006/relationships/notesSlide" Target="/ppt/notesSlides/notesSlide1.xml" Id="R9c3530883b3c47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d13317dcc42d4" /><Relationship Type="http://schemas.openxmlformats.org/officeDocument/2006/relationships/notesSlide" Target="/ppt/notesSlides/notesSlide2.xml" Id="R6d4bbac1ed9a46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40b1c1c274a42" /><Relationship Type="http://schemas.openxmlformats.org/officeDocument/2006/relationships/notesSlide" Target="/ppt/notesSlides/notesSlide3.xml" Id="Rfc3f1fb72bed4c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8c78a2751446b" /><Relationship Type="http://schemas.openxmlformats.org/officeDocument/2006/relationships/notesSlide" Target="/ppt/notesSlides/notesSlide4.xml" Id="R8bc03480c28e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1b761cff9419f" /><Relationship Type="http://schemas.openxmlformats.org/officeDocument/2006/relationships/notesSlide" Target="/ppt/notesSlides/notesSlide5.xml" Id="Rc39c3fea8193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7e39b6aaa4b26" /><Relationship Type="http://schemas.openxmlformats.org/officeDocument/2006/relationships/notesSlide" Target="/ppt/notesSlides/notesSlide6.xml" Id="R749e406e6d5d4b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dc4246e13460c" /><Relationship Type="http://schemas.openxmlformats.org/officeDocument/2006/relationships/notesSlide" Target="/ppt/notesSlides/notesSlide7.xml" Id="Rd0822f563ddf4f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71e8e8416433d" /><Relationship Type="http://schemas.openxmlformats.org/officeDocument/2006/relationships/notesSlide" Target="/ppt/notesSlides/notesSlide8.xml" Id="R1ce8be533e3d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b561d36234880" /><Relationship Type="http://schemas.openxmlformats.org/officeDocument/2006/relationships/notesSlide" Target="/ppt/notesSlides/notesSlide9.xml" Id="R7d110073ff3346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b2b7b74524d8f" /><Relationship Type="http://schemas.openxmlformats.org/officeDocument/2006/relationships/notesSlide" Target="/ppt/notesSlides/notesSlide10.xml" Id="Rc0191581d56640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715d6dd824546" /><Relationship Type="http://schemas.openxmlformats.org/officeDocument/2006/relationships/notesSlide" Target="/ppt/notesSlides/notesSlide11.xml" Id="Rb0767982a8fc48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9027395784e43" /><Relationship Type="http://schemas.openxmlformats.org/officeDocument/2006/relationships/notesSlide" Target="/ppt/notesSlides/notesSlide12.xml" Id="R1b4666bfe91040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c60c31ed54ff3" /><Relationship Type="http://schemas.openxmlformats.org/officeDocument/2006/relationships/notesSlide" Target="/ppt/notesSlides/notesSlide13.xml" Id="R1af1975970ab4b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7F479-178A-4BAD-B388-D1C30902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BLOCKMATE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5134A-58AF-4F29-904E-0BBF1E4D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24F08-B709-4667-B6E9-682466A0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Ajedrez de Minecraft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A42F8-1A5C-4036-8835-8D79944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Ingeniería de Software</a:t>
            </a:r>
          </a:p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Java 21 · Maven · JUnit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73304-9E3B-44AB-A7CD-F62224D1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Arquitectura, decisiones y evidencia</a:t>
            </a:r>
          </a:p>
          <a:p xmlns:a="http://schemas.openxmlformats.org/drawingml/2006/main">
            <a:pPr>
              <a:buNone/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6 de noviembre de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9CABF-9230-4190-A927-EB8E9492B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c7bff2605427b"/>
          <a:stretch xmlns:a="http://schemas.openxmlformats.org/drawingml/2006/main"/>
        </p:blipFill>
        <p:spPr>
          <a:xfrm xmlns:a="http://schemas.openxmlformats.org/drawingml/2006/main">
            <a:off x="6086179" y="1381125"/>
            <a:ext cx="5163142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26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A4A70-07A1-4061-A32A-69470602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Alcance del juego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0B04F-B622-4BF4-96AD-37A4558F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67E40-4DBB-46F7-BD4C-4AFE8D56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Reglas completas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7317B-6D37-4A81-B45B-9502305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Jaque, mate, ahogado, enroque, al paso, promoción y tablas.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542DA-D8E9-45C7-A37A-0B8ACACB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Uso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00702-BD9F-407D-8FF6-A54A3FA0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Dos personas o una contra IA. Web Minecraft y consola básica.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79245-BD29-4087-923F-F128983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Estado recuperable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99501-6A65-419B-BD54-997EC94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Historial, capturas, puntos, undo/redo, guardado y cronómetro.</a:t>
            </a:r>
          </a:p>
        </p:txBody>
      </p:sp>
    </p:spTree>
    <p:extLst>
      <p:ext uri="{BB962C8B-B14F-4D97-AF65-F5344CB8AC3E}">
        <p14:creationId xmlns:p14="http://schemas.microsoft.com/office/powerpoint/2010/main" val="1986766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6D6E3-6739-416F-BCCB-3BC4256A2C1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381875" y="1952625"/>
            <a:ext cx="1238250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1BD18-1FA3-4F5F-B631-00A5D59BCC64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0096500" y="2190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dash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77E12-4CA6-4F64-A098-9D42E3E0C23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381875" y="1833563"/>
            <a:ext cx="123825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58BDB-F4D9-4BF2-8FBD-D74A24D378C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4214813"/>
            <a:ext cx="119062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C3A21-CBB9-44EE-9732-72DFB366C9DE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62625" y="2428875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0916-CC43-4DAA-B284-EBCFDF7B9EB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52750" y="1833563"/>
            <a:ext cx="119062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BC24A-36F2-44D8-9A02-520F201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Puertos y adaptadores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518EC-003C-4BDD-BDA9-E2F9CC1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B22BE-C5EF-422C-B2D5-8C310DF1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WebServer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C308-5572-44B0-B8A4-681DE051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763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IMatchService</a:t>
            </a:r>
          </a:p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MatchSession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E9633-EDBD-4F67-AD9D-356C2640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IGameService</a:t>
            </a:r>
          </a:p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3C922-9820-4099-B592-3FCD0DD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ConsoleUI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F3947-6167-4917-9026-35175DE8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76375"/>
            <a:ext cx="295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IGameRepository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F8F2F-D79C-4989-83C6-58157D0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95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FileGameRepository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39971-E650-4D5D-BF34-43A1D3C2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720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IChessAi</a:t>
            </a:r>
          </a:p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MinimaxAi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EE165-28C5-4BA2-9046-10E78F02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core no importa HTTP, UI ni archivos</a:t>
            </a:r>
          </a:p>
        </p:txBody>
      </p:sp>
    </p:spTree>
    <p:extLst>
      <p:ext uri="{BB962C8B-B14F-4D97-AF65-F5344CB8AC3E}">
        <p14:creationId xmlns:p14="http://schemas.microsoft.com/office/powerpoint/2010/main" val="1902140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70F59-5CB8-44EE-916F-8AF1AD6C1B31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96063" y="2667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dash"/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B5F7B-8847-4BD7-B976-03FDE8D6E3A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67125" y="21431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347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630B1-B7B9-415A-A527-08D7E09D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Strategy y composición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6B1C7-B574-42B7-AC02-0A56758F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484CB-E909-4E13-9FA7-D6B213C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Piece</a:t>
            </a:r>
          </a:p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canMove / canAttack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DBAEC-6191-4DB7-8C77-4A597F9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3571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IMovementStrategy</a:t>
            </a:r>
          </a:p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canMove / canAttack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A723E-A25A-454B-9C6B-6B4AC62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3571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D"/>
          </a:solidFill>
          <a:ln xmlns:a="http://schemas.openxmlformats.org/drawingml/2006/main" w="19050">
            <a:solidFill>
              <a:srgbClr val="356347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0382B"/>
                </a:solidFill>
                <a:latin typeface="Arial"/>
                <a:ea typeface="Arial"/>
                <a:cs typeface="Arial"/>
              </a:rPr>
              <a:t>QueenMovement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E3E91-58E9-4E39-85B2-75B0690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97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Delega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F7536-BF4F-4DA7-81E0-A79E327C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La reina combina torre y alfil.</a:t>
            </a:r>
          </a:p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El peón diferencia avance y ataque.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A577C-1038-4D93-A2E9-A713A545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352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PieceFactory selecciona</a:t>
            </a:r>
          </a:p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la estrategia por PieceType.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80DEB-DE4B-4821-B3B2-B75577F4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Sin jerarquía</a:t>
            </a:r>
          </a:p>
          <a:p xmlns:a="http://schemas.openxmlformats.org/drawingml/2006/main">
            <a:pPr>
              <a:buNone/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de piezas</a:t>
            </a:r>
          </a:p>
        </p:txBody>
      </p:sp>
    </p:spTree>
    <p:extLst>
      <p:ext uri="{BB962C8B-B14F-4D97-AF65-F5344CB8AC3E}">
        <p14:creationId xmlns:p14="http://schemas.microsoft.com/office/powerpoint/2010/main" val="1361081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AAAE3-5867-4B98-8ACB-43FD90A5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Command para deshacer y rehacer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5F2D3-700B-4BFB-869A-64213A6B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EF7DD-61CE-43B0-9C22-1350E8EC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01BAE-BC5F-497E-82A4-CE36752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Aplica la jugada validada y sus efectos especiales.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6A502-3830-4EFF-A46C-F9661DF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undo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15EF8-DAA7-44AA-8257-6BE5E4B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Restaura la copia previa, incluidos al paso y contador.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9D39E-E370-4635-AD32-7860EFD2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redo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80720-5C8F-4E95-91E1-06D5E93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Game vuelve a ejecutar el comando guardado.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80157-BD88-4F0A-9051-6A9C16C2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Una jugada nueva descarta el futuro. Un rechazo lo conserva.</a:t>
            </a:r>
          </a:p>
        </p:txBody>
      </p:sp>
    </p:spTree>
    <p:extLst>
      <p:ext uri="{BB962C8B-B14F-4D97-AF65-F5344CB8AC3E}">
        <p14:creationId xmlns:p14="http://schemas.microsoft.com/office/powerpoint/2010/main" val="56238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11E39-CC98-4655-AA49-50D7836F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Validación sin texto de pantalla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FB094-5D7A-4C99-AB4A-1BB464AB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1E9F1-EE43-4A98-8798-4962FE91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MoveValidator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1B049-32EA-4CE6-800E-9974270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VALID</a:t>
            </a:r>
          </a:p>
          <a:p xmlns:a="http://schemas.openxmlformats.org/drawingml/2006/main">
            <a:pPr>
              <a:buNone/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WRONG_TURN</a:t>
            </a:r>
          </a:p>
          <a:p xmlns:a="http://schemas.openxmlformats.org/drawingml/2006/main">
            <a:pPr>
              <a:buNone/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KING_EXPOSED</a:t>
            </a:r>
          </a:p>
          <a:p xmlns:a="http://schemas.openxmlformats.org/drawingml/2006/main">
            <a:pPr>
              <a:buNone/>
              <a:defRPr sz="225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Otros motivos semánticos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06C61-0F71-4DC3-A9B6-BB42C6E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WebServer y ConsoleUI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3E82F-7E83-4924-B7AB-486E9DEE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3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MoveMessages traduce el motivo</a:t>
            </a:r>
          </a:p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a un mensaje amigable.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Los rechazos normales no</a:t>
            </a:r>
          </a:p>
          <a:p xmlns:a="http://schemas.openxmlformats.org/drawingml/2006/main">
            <a:pPr>
              <a:buNone/>
              <a:defRPr sz="2175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se representan con excepciones.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43BB2-0A00-4A70-A8BD-57F343D7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Los tests del dominio comparan motivos, no frases de UI.</a:t>
            </a:r>
          </a:p>
        </p:txBody>
      </p:sp>
    </p:spTree>
    <p:extLst>
      <p:ext uri="{BB962C8B-B14F-4D97-AF65-F5344CB8AC3E}">
        <p14:creationId xmlns:p14="http://schemas.microsoft.com/office/powerpoint/2010/main" val="685768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02F6D-AA4F-4F9E-AE76-703ED64D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Persistencia y tiempo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EE7D9-3EAD-4029-B2C3-D0C4A87F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585F4-9814-4509-9970-A1B9D5B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Guardado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01E50-2393-4E27-842F-E50B5AE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SavedMatch guarda movimientos, cursor, modo, nivel y tiempos.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4D019-7545-4BDC-838A-5DAA6695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Recuperación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D42FC-4B59-4CA7-98C4-8FEB644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La sesión reproduce las jugadas y deshace hasta el cursor.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DEFD-0B52-49D3-81AC-414B69C9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Fallo de escritura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7CD57-95C2-4B8B-8DB4-87A2ADB8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La operación se revierte. El repositorio escribe primero un temporal.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B2548-CD98-4BC5-B8FD-52E241B9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El reloj suma tiempo activo y pausa al ocultar o cerrar el juego.</a:t>
            </a:r>
          </a:p>
        </p:txBody>
      </p:sp>
    </p:spTree>
    <p:extLst>
      <p:ext uri="{BB962C8B-B14F-4D97-AF65-F5344CB8AC3E}">
        <p14:creationId xmlns:p14="http://schemas.microsoft.com/office/powerpoint/2010/main" val="595096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9C52A-1A5C-48F7-AF2A-54FBE7A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Decisiones y condiciones de cambio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D25CF-C50B-4354-8DCE-5A1E78E7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9CD54-C9C3-4210-98AF-262CA51F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Tablero 8×8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E7069-0C5E-44B7-9BD8-0A6BB23D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Se conserva por KISS. Cambiaría ante una variante concreta.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DB442-936C-4A5E-80C0-E82C4CE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Fábrica 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EDF5D-2EF2-469F-92D2-A6A2DCB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Centraliza una decisión real. Un catálogo dinámico requeriría otra necesidad.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B6195-02AE-422A-99A4-43341BF3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Inyección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457E2-C394-4FF2-87D0-579ECF3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Puertos para repositorio e IA y Clock sustituible. Sin Spring ni contenedor de DI.</a:t>
            </a:r>
          </a:p>
        </p:txBody>
      </p:sp>
    </p:spTree>
    <p:extLst>
      <p:ext uri="{BB962C8B-B14F-4D97-AF65-F5344CB8AC3E}">
        <p14:creationId xmlns:p14="http://schemas.microsoft.com/office/powerpoint/2010/main" val="1953011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1C4F0-D1AA-4A52-8BDC-C5C6DEAD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Extensión durante la defensa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E1BB7-27BF-4977-BB42-2B2AA875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0F6F-2797-48B2-B0BE-D165F4A8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Una pieza nueva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996DE-D9A7-40D9-B13A-C0CC1BDB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Implementar su estrategia.</a:t>
            </a:r>
          </a:p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Configurar PieceType y PieceFactory.</a:t>
            </a:r>
          </a:p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Adaptar setup y representación.</a:t>
            </a:r>
          </a:p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Probar ataques y seguridad del rey.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3FE17-16D9-4C83-8413-6025FDBF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Otro tamaño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E0DF6-1F05-403F-BD33-446103C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Definir primero las reglas.</a:t>
            </a:r>
          </a:p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Adaptar Board y Position.</a:t>
            </a:r>
          </a:p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Revisar recorridos y jugadas especiales.</a:t>
            </a:r>
          </a:p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Actualizar UI y formato de guardado.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20644-6C94-4ABC-B728-C7DFE31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OCP se aplica al comportamiento. La configuración central puede cambiar.</a:t>
            </a:r>
          </a:p>
        </p:txBody>
      </p:sp>
    </p:spTree>
    <p:extLst>
      <p:ext uri="{BB962C8B-B14F-4D97-AF65-F5344CB8AC3E}">
        <p14:creationId xmlns:p14="http://schemas.microsoft.com/office/powerpoint/2010/main" val="57575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AED05-671A-48DD-9E29-9E5A6540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Pruebas y regresiones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602E0-E149-4B9B-AD7D-664F5593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A3FA-7DC5-43FE-ABD3-55A3AB7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62 pruebas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7E81F-7912-495D-8413-E0D3340E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53 de reglas y sesión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9F92-8C32-4361-AEFD-2EE2769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Reglas, IA, sesión, persistencia y perft 20 / 400 / 8902.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BE66-0A7F-4392-B987-CD72FAD2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9 de actividad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C22B6-9F1A-4920-812D-5EB9190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Pausas, varias vistas, reinicio, fallos de guardado y migración.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1BC3F-8E3F-43B2-A2C7-5B1932E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Maven limpio: 0 fallos, errores u omisiones. Evidencia del 31/10.</a:t>
            </a:r>
          </a:p>
        </p:txBody>
      </p:sp>
    </p:spTree>
    <p:extLst>
      <p:ext uri="{BB962C8B-B14F-4D97-AF65-F5344CB8AC3E}">
        <p14:creationId xmlns:p14="http://schemas.microsoft.com/office/powerpoint/2010/main" val="1805335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B9F0B-0D0D-40AD-A2FB-DDCAC14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Recorrido para la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C08D3-ED38-47F5-9F82-1B7BEF6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5C3FE-73F1-45A6-A0E3-167B6D6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Juego y restauración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D4AB4-DA5B-478C-A0CD-6910CC86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Mover, capturar, deshacer y rehacer. Mostrar puntaje e historial.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7DB20-A91D-49FD-A3C0-7DD13BD8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Código y UML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77485-3205-4942-B17D-CC7655A8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Seguir StandardGame, Piece, MoveValidator y MoveCommand.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87289-85EF-4453-9834-FA546C0B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Verificación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7C691-73A3-4247-B55E-C51CB3AE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Ejecutar mvn test y explicar cuándo cambiaría cada decisión.</a:t>
            </a:r>
          </a:p>
        </p:txBody>
      </p:sp>
    </p:spTree>
    <p:extLst>
      <p:ext uri="{BB962C8B-B14F-4D97-AF65-F5344CB8AC3E}">
        <p14:creationId xmlns:p14="http://schemas.microsoft.com/office/powerpoint/2010/main" val="4041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D220C-0294-4C23-AC24-14F163A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Rendimiento medido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ADC4-DE3D-4F06-BEF9-53A63376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Java y JFR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8AAF4-DFA8-48EF-9F20-5A5F177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IA máxima: mediana 1,375 s; máximo 1,611 s.</a:t>
            </a:r>
          </a:p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10 repeticiones de una posición fija.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A0312-A347-4B9F-A0B7-7623D5B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Memoria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50ABD-C3E4-4E7B-9D27-6862C0B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500 ciclos Java: 0 partidas anteriores retenidas.</a:t>
            </a:r>
          </a:p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Navegador: nodos y listeners estables en 15 ciclos.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1D0AE-CA66-466F-9C9B-3651C47C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Interfaz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BA8C-2532-4B83-8D26-D24172BB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Destinos legales: mediana 83 ms de punta a punta.</a:t>
            </a:r>
          </a:p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Incluye automatización, HTTP y dibujo.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89016-6E4E-4C32-A9A3-9723BD3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Un equipo y escenarios acotados; sin garantía general ni optimización del motor.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7F3B0-D508-4BE8-B427-664B5157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85383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EEFE1-9167-4B4D-8532-08A1800F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B"/>
                </a:solidFill>
                <a:latin typeface="Arial"/>
                <a:ea typeface="Arial"/>
                <a:cs typeface="Arial"/>
              </a:rPr>
              <a:t>Integridad y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758CD-BBBD-4877-9B27-5C2D1052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2477-5F01-49E4-A7AC-B14726EF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Pruebas, perfil y restauración reproducibles.</a:t>
            </a:r>
          </a:p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Word, diapositivas y UML contrastados con el código.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06BE6-858C-4117-B711-97C71485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Uso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51284-C19D-4430-9507-5EF1899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Asistencia de Codex para revisión y documentación.</a:t>
            </a:r>
          </a:p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Conclusiones contrastadas con ejecución y fuentes.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A5509-6581-4E39-9FD8-070E4CF9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563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6347"/>
                </a:solidFill>
                <a:latin typeface="Arial"/>
                <a:ea typeface="Arial"/>
                <a:cs typeface="Arial"/>
              </a:rPr>
              <a:t>Antes de presentar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44567-0F12-446B-AE38-48E30616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Revisión por otro integrante, reparto de exposición</a:t>
            </a:r>
          </a:p>
          <a:p xmlns:a="http://schemas.openxmlformats.org/drawingml/2006/main">
            <a:pPr>
              <a:defRPr sz="2100" b="0">
                <a:solidFill>
                  <a:srgbClr val="2038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B"/>
                </a:solidFill>
                <a:latin typeface="Arial"/>
                <a:ea typeface="Arial"/>
                <a:cs typeface="Arial"/>
              </a:rPr>
              <a:t>y ensayo en el equipo final: pendientes del grupo.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A2674-518F-4B1A-A946-486C951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RAMA-VICTORIA · Presentación el 6/11 · Revisión del grupo pendiente.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0E2D6-1B63-4ACE-A546-010FD5A8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5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44729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2026-10-31T20:19:43.2010000Z</dcterms:created>
  <dcterms:modified xsi:type="dcterms:W3CDTF">2026-10-31T20:19:43.2010000Z</dcterms:modified>
</coreProperties>
</file>