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68aa1f8c7b34609" /><Relationship Type="http://schemas.openxmlformats.org/officeDocument/2006/relationships/extended-properties" Target="/docProps/app.xml" Id="Re6f8b0a4b3a84017" /><Relationship Type="http://schemas.openxmlformats.org/officeDocument/2006/relationships/officeDocument" Target="/ppt/presentation.xml" Id="Rffc2e1ce154e4f7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11ec1e159b84be7"/>
  </p:sldMasterIdLst>
  <p:notesMasterIdLst>
    <p:notesMasterId xmlns:r="http://schemas.openxmlformats.org/officeDocument/2006/relationships" r:id="R59adae29d4cc4834"/>
  </p:notesMasterIdLst>
  <p:sldIdLst>
    <p:sldId xmlns:r="http://schemas.openxmlformats.org/officeDocument/2006/relationships" id="256" r:id="R3ca031b320014ea8"/>
    <p:sldId xmlns:r="http://schemas.openxmlformats.org/officeDocument/2006/relationships" id="257" r:id="Rb2dad2cc575647f8"/>
    <p:sldId xmlns:r="http://schemas.openxmlformats.org/officeDocument/2006/relationships" id="258" r:id="R03d5ed8533e442d1"/>
    <p:sldId xmlns:r="http://schemas.openxmlformats.org/officeDocument/2006/relationships" id="259" r:id="R7a521f0d4b2a451e"/>
    <p:sldId xmlns:r="http://schemas.openxmlformats.org/officeDocument/2006/relationships" id="260" r:id="Rc2cc6ce91a7d431f"/>
    <p:sldId xmlns:r="http://schemas.openxmlformats.org/officeDocument/2006/relationships" id="261" r:id="R3dfa0004bd6f4e03"/>
    <p:sldId xmlns:r="http://schemas.openxmlformats.org/officeDocument/2006/relationships" id="262" r:id="Re6ffd4063990463a"/>
    <p:sldId xmlns:r="http://schemas.openxmlformats.org/officeDocument/2006/relationships" id="263" r:id="Ra75c47ce01d0468a"/>
    <p:sldId xmlns:r="http://schemas.openxmlformats.org/officeDocument/2006/relationships" id="264" r:id="Rc3015343d012473b"/>
    <p:sldId xmlns:r="http://schemas.openxmlformats.org/officeDocument/2006/relationships" id="265" r:id="Re8ffe270776a4cb9"/>
    <p:sldId xmlns:r="http://schemas.openxmlformats.org/officeDocument/2006/relationships" id="266" r:id="R8f21324edff3431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0c37a9eb26d41e3" /><Relationship Type="http://schemas.openxmlformats.org/officeDocument/2006/relationships/slideMaster" Target="/ppt/slideMasters/slideMaster1.xml" Id="R411ec1e159b84be7" /><Relationship Type="http://schemas.openxmlformats.org/officeDocument/2006/relationships/notesMaster" Target="/ppt/notesMasters/notesMaster1.xml" Id="R59adae29d4cc4834" /><Relationship Type="http://schemas.openxmlformats.org/officeDocument/2006/relationships/presProps" Target="/ppt/presProps.xml" Id="R52dd559c5bec41f2" /><Relationship Type="http://schemas.openxmlformats.org/officeDocument/2006/relationships/tableStyles" Target="/ppt/tableStyles.xml" Id="R5756f04b9f6c4d79" /><Relationship Type="http://schemas.openxmlformats.org/officeDocument/2006/relationships/slide" Target="/ppt/slides/slide1.xml" Id="R3ca031b320014ea8" /><Relationship Type="http://schemas.openxmlformats.org/officeDocument/2006/relationships/slide" Target="/ppt/slides/slide2.xml" Id="Rb2dad2cc575647f8" /><Relationship Type="http://schemas.openxmlformats.org/officeDocument/2006/relationships/slide" Target="/ppt/slides/slide3.xml" Id="R03d5ed8533e442d1" /><Relationship Type="http://schemas.openxmlformats.org/officeDocument/2006/relationships/slide" Target="/ppt/slides/slide4.xml" Id="R7a521f0d4b2a451e" /><Relationship Type="http://schemas.openxmlformats.org/officeDocument/2006/relationships/slide" Target="/ppt/slides/slide5.xml" Id="Rc2cc6ce91a7d431f" /><Relationship Type="http://schemas.openxmlformats.org/officeDocument/2006/relationships/slide" Target="/ppt/slides/slide6.xml" Id="R3dfa0004bd6f4e03" /><Relationship Type="http://schemas.openxmlformats.org/officeDocument/2006/relationships/slide" Target="/ppt/slides/slide7.xml" Id="Re6ffd4063990463a" /><Relationship Type="http://schemas.openxmlformats.org/officeDocument/2006/relationships/slide" Target="/ppt/slides/slide8.xml" Id="Ra75c47ce01d0468a" /><Relationship Type="http://schemas.openxmlformats.org/officeDocument/2006/relationships/slide" Target="/ppt/slides/slide9.xml" Id="Rc3015343d012473b" /><Relationship Type="http://schemas.openxmlformats.org/officeDocument/2006/relationships/slide" Target="/ppt/slides/slide10.xml" Id="Re8ffe270776a4cb9" /><Relationship Type="http://schemas.openxmlformats.org/officeDocument/2006/relationships/slide" Target="/ppt/slides/slide11.xml" Id="R8f21324edff3431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8964b537e8b4bb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1ffe16c490a4c96" /><Relationship Type="http://schemas.openxmlformats.org/officeDocument/2006/relationships/notesMaster" Target="/ppt/notesMasters/notesMaster1.xml" Id="Rbbe196383e61409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23f6b40e96f43e8" /><Relationship Type="http://schemas.openxmlformats.org/officeDocument/2006/relationships/notesMaster" Target="/ppt/notesMasters/notesMaster1.xml" Id="R9f3e8a5dc0f74bf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eff7619decb49a0" /><Relationship Type="http://schemas.openxmlformats.org/officeDocument/2006/relationships/notesMaster" Target="/ppt/notesMasters/notesMaster1.xml" Id="R76f72eee9106427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e8ee425a9a94d41" /><Relationship Type="http://schemas.openxmlformats.org/officeDocument/2006/relationships/notesMaster" Target="/ppt/notesMasters/notesMaster1.xml" Id="R4e3026b447e548d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c8fb4e959184c5c" /><Relationship Type="http://schemas.openxmlformats.org/officeDocument/2006/relationships/notesMaster" Target="/ppt/notesMasters/notesMaster1.xml" Id="R1f027fa74b8145d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7e6b2c83761475e" /><Relationship Type="http://schemas.openxmlformats.org/officeDocument/2006/relationships/notesMaster" Target="/ppt/notesMasters/notesMaster1.xml" Id="Ra3b5be7ceaab410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477dc3c22ab4fb6" /><Relationship Type="http://schemas.openxmlformats.org/officeDocument/2006/relationships/notesMaster" Target="/ppt/notesMasters/notesMaster1.xml" Id="Rfed12bc55da5417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2c6303c4c674ac3" /><Relationship Type="http://schemas.openxmlformats.org/officeDocument/2006/relationships/notesMaster" Target="/ppt/notesMasters/notesMaster1.xml" Id="Rc301e03620fc4ab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bac3408350542c1" /><Relationship Type="http://schemas.openxmlformats.org/officeDocument/2006/relationships/notesMaster" Target="/ppt/notesMasters/notesMaster1.xml" Id="R2520be8c216b4f8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77b4b212ecd434a" /><Relationship Type="http://schemas.openxmlformats.org/officeDocument/2006/relationships/notesMaster" Target="/ppt/notesMasters/notesMaster1.xml" Id="Rd78d50a31df74da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0865bed872f4b3d" /><Relationship Type="http://schemas.openxmlformats.org/officeDocument/2006/relationships/notesMaster" Target="/ppt/notesMasters/notesMaster1.xml" Id="Ra6742ec95da4437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README.md, docs/arquitectura.md y código actual. Presentación de defensa, 16/10/2026.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README.md; Game, MatchSession, StandardGame. La captura de portada es el recurso existente del repositorio.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WebServer, ConsoleUI, IMatchService, MatchSession, IGameService, IGameRepository, IChessAi. Flechas sólidas: usa. Flecha discontinua: implementa. Vista resumida; UML completo en docs/UML-Ajedrez-TPO.pdf.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Piece.java, PieceFactory.java, PieceType.java e IMovementStrategy.java. Sólo PawnMovement redefine canAttack; QueenMovement hereda el método por defecto.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ICommand, MoveCommand, Game. Cada comando conserva una copia de 64 referencias y los metadatos; las piezas son inmutables. Historial O(m × n).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MoveValidator, ValidationResult, MoveResult y app/MoveMessages. Se conserva el contrato textual de las otras operaciones de Game y MatchSession.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MatchSession, SavedMatch, IGameRepository, FileGameRepository. Clock se inyecta por constructor.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docs/arquitectura.md. El docente acepta 8×8 y cambios centrales al incorporar tipos.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docs/arquitectura.md, secciones Agregar una pieza y Adaptar el tablero. Son propuestas futuras, no funcionalidades implementadas.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src/test/java y ejecución Maven clean test. 47 originales + 4 ValidationTest + 2 BoardPathTest = 53. No se ejecutó una nueva suite de navegador.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README.md, código y docs/UML-Ajedrez-TPO.puml. UML: seis vistas, 37 tipos públicos, API declarada y relaciones principales; omite privados y miembros generados o heredados.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d693bfea014cc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95901181cf436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902e4c0b9444d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9698679fef41f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937d81b578491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156234d2934bb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D945317-4BAD-4F19-93AC-F5A9FBC07C4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B55A7D1B-8D13-4A4E-869C-60B3C4F393A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82FADDBE-6D75-4AD3-ABB3-FD8C3F114B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8713577-8F41-4908-BA84-1459BA90681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95208F4-1623-4A82-8E41-32AB4D64CF6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7EC5524A-E282-41E4-991D-E9724303BC3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F43AF12-E035-43B3-968D-C78CF1755C8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DEDDE2D9-DB2C-4450-BC40-54297CF6C56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8F3856B-FCEA-4C04-86A3-67B61CBD3D9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3D98736-86B2-427A-9C38-C40E7C634B5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c3cd89bcd7248a9" /><Relationship Type="http://schemas.openxmlformats.org/officeDocument/2006/relationships/slideLayout" Target="/ppt/slideLayouts/slideLayout1.xml" Id="Rd944d446f7514001" /><Relationship Type="http://schemas.openxmlformats.org/officeDocument/2006/relationships/slideLayout" Target="/ppt/slideLayouts/slideLayout2.xml" Id="Ra5165e6dac2a4118" /><Relationship Type="http://schemas.openxmlformats.org/officeDocument/2006/relationships/slideLayout" Target="/ppt/slideLayouts/slideLayout3.xml" Id="R075149aee99345d1" /><Relationship Type="http://schemas.openxmlformats.org/officeDocument/2006/relationships/slideLayout" Target="/ppt/slideLayouts/slideLayout4.xml" Id="R8f542725ce5746eb" /><Relationship Type="http://schemas.openxmlformats.org/officeDocument/2006/relationships/slideLayout" Target="/ppt/slideLayouts/slideLayout5.xml" Id="Rc07eec3fdb554a40" /><Relationship Type="http://schemas.openxmlformats.org/officeDocument/2006/relationships/slideLayout" Target="/ppt/slideLayouts/slideLayout6.xml" Id="R8951e43bb8bf46f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944d446f7514001"/>
    <p:sldLayoutId xmlns:r="http://schemas.openxmlformats.org/officeDocument/2006/relationships" id="2147483650" r:id="Ra5165e6dac2a4118"/>
    <p:sldLayoutId xmlns:r="http://schemas.openxmlformats.org/officeDocument/2006/relationships" id="2147483651" r:id="R075149aee99345d1"/>
    <p:sldLayoutId xmlns:r="http://schemas.openxmlformats.org/officeDocument/2006/relationships" id="2147483652" r:id="R8f542725ce5746eb"/>
    <p:sldLayoutId xmlns:r="http://schemas.openxmlformats.org/officeDocument/2006/relationships" id="2147483653" r:id="Rc07eec3fdb554a40"/>
    <p:sldLayoutId xmlns:r="http://schemas.openxmlformats.org/officeDocument/2006/relationships" id="2147483654" r:id="R8951e43bb8bf46f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7b7cc3236fa428a" /><Relationship Type="http://schemas.openxmlformats.org/officeDocument/2006/relationships/image" Target="/ppt/media/image.png" Id="Rc07997ad06064d31" /><Relationship Type="http://schemas.openxmlformats.org/officeDocument/2006/relationships/notesSlide" Target="/ppt/notesSlides/notesSlide1.xml" Id="Reb2b63eb15454cf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8c5170b054540bd" /><Relationship Type="http://schemas.openxmlformats.org/officeDocument/2006/relationships/notesSlide" Target="/ppt/notesSlides/notesSlide2.xml" Id="R360e8da7a07849e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3bcfabb15e44baa" /><Relationship Type="http://schemas.openxmlformats.org/officeDocument/2006/relationships/notesSlide" Target="/ppt/notesSlides/notesSlide3.xml" Id="R98db9f0ed8e4429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b9da141b4e84dcb" /><Relationship Type="http://schemas.openxmlformats.org/officeDocument/2006/relationships/notesSlide" Target="/ppt/notesSlides/notesSlide4.xml" Id="Ra1c245b4ce084d5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ae1630998694b06" /><Relationship Type="http://schemas.openxmlformats.org/officeDocument/2006/relationships/notesSlide" Target="/ppt/notesSlides/notesSlide5.xml" Id="R76cadfc08542486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f28b5f06d4f47ea" /><Relationship Type="http://schemas.openxmlformats.org/officeDocument/2006/relationships/notesSlide" Target="/ppt/notesSlides/notesSlide6.xml" Id="R7d6ecadf559b442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cbc5b96695447bf" /><Relationship Type="http://schemas.openxmlformats.org/officeDocument/2006/relationships/notesSlide" Target="/ppt/notesSlides/notesSlide7.xml" Id="R534dbb7cff9d4da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4f1be399e424c4a" /><Relationship Type="http://schemas.openxmlformats.org/officeDocument/2006/relationships/notesSlide" Target="/ppt/notesSlides/notesSlide8.xml" Id="R447db64c7d8f478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a25eb9f1acd4f67" /><Relationship Type="http://schemas.openxmlformats.org/officeDocument/2006/relationships/notesSlide" Target="/ppt/notesSlides/notesSlide9.xml" Id="Ra7d93e5b980e4af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ac0dc17a17145c4" /><Relationship Type="http://schemas.openxmlformats.org/officeDocument/2006/relationships/notesSlide" Target="/ppt/notesSlides/notesSlide10.xml" Id="R9f4f9b8d8cda461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ee5cc9bec9a4194" /><Relationship Type="http://schemas.openxmlformats.org/officeDocument/2006/relationships/notesSlide" Target="/ppt/notesSlides/notesSlide11.xml" Id="R628202c3e27b482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F7F479-178A-4BAD-B388-D1C309023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 b="1">
                <a:solidFill>
                  <a:srgbClr val="20382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82B"/>
                </a:solidFill>
                <a:latin typeface="Arial"/>
                <a:ea typeface="Arial"/>
                <a:cs typeface="Arial"/>
              </a:rPr>
              <a:t>BLOCKMATE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E5134A-58AF-4F29-904E-0BBF1E4D2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4365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5264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45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5A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424F08-B709-4667-B6E9-682466A01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5143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000" b="1">
                <a:solidFill>
                  <a:srgbClr val="3563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356347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356347"/>
                </a:solidFill>
                <a:latin typeface="Arial"/>
                <a:ea typeface="Arial"/>
                <a:cs typeface="Arial"/>
              </a:rPr>
              <a:t>Ajedrez de Minecraft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CA42F8-1A5C-4036-8835-8D7994403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4572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82B"/>
                </a:solidFill>
                <a:latin typeface="Arial"/>
                <a:ea typeface="Arial"/>
                <a:cs typeface="Arial"/>
              </a:rPr>
              <a:t>Ingeniería de Software</a:t>
            </a:r>
          </a:p>
          <a:p xmlns:a="http://schemas.openxmlformats.org/drawingml/2006/main">
            <a:pPr>
              <a:defRPr sz="2175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82B"/>
                </a:solidFill>
                <a:latin typeface="Arial"/>
                <a:ea typeface="Arial"/>
                <a:cs typeface="Arial"/>
              </a:rPr>
              <a:t>Java 21 · Maven · JUnit 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573304-9E3B-44AB-A7CD-F62224D1A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476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5264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52645A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45A"/>
                </a:solidFill>
                <a:latin typeface="Arial"/>
                <a:ea typeface="Arial"/>
                <a:cs typeface="Arial"/>
              </a:rPr>
              <a:t>Arquitectura, decisiones y evidencia</a:t>
            </a:r>
          </a:p>
          <a:p xmlns:a="http://schemas.openxmlformats.org/drawingml/2006/main">
            <a:pPr>
              <a:defRPr sz="1950" b="0">
                <a:solidFill>
                  <a:srgbClr val="52645A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45A"/>
                </a:solidFill>
                <a:latin typeface="Arial"/>
                <a:ea typeface="Arial"/>
                <a:cs typeface="Arial"/>
              </a:rPr>
              <a:t>16 de octubre de 2026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90E2E5-C8A8-4131-BFC2-3621F53F153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7997ad06064d31"/>
          <a:stretch xmlns:a="http://schemas.openxmlformats.org/drawingml/2006/main"/>
        </p:blipFill>
        <p:spPr>
          <a:xfrm xmlns:a="http://schemas.openxmlformats.org/drawingml/2006/main">
            <a:off x="6086179" y="1381125"/>
            <a:ext cx="5163142" cy="4381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132686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5A4A70-07A1-4061-A32A-694706024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 b="1">
                <a:solidFill>
                  <a:srgbClr val="20382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82B"/>
                </a:solidFill>
                <a:latin typeface="Arial"/>
                <a:ea typeface="Arial"/>
                <a:cs typeface="Arial"/>
              </a:rPr>
              <a:t>Alcance del juego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30B04F-B622-4BF4-96AD-37A4558F7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4365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5264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45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5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167E40-4DBB-46F7-BD4C-4AFE8D56E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361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1">
                <a:solidFill>
                  <a:srgbClr val="3563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356347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356347"/>
                </a:solidFill>
                <a:latin typeface="Arial"/>
                <a:ea typeface="Arial"/>
                <a:cs typeface="Arial"/>
              </a:rPr>
              <a:t>Reglas completas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F7317B-6D37-4A81-B45B-9502305D3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619250"/>
            <a:ext cx="695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382B"/>
                </a:solidFill>
                <a:latin typeface="Arial"/>
                <a:ea typeface="Arial"/>
                <a:cs typeface="Arial"/>
              </a:rPr>
              <a:t>Jaque, mate, ahogado, enroque, al paso, promoción y tablas.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B542DA-D8E9-45C7-A37A-0B8ACACB4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361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1">
                <a:solidFill>
                  <a:srgbClr val="3563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356347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356347"/>
                </a:solidFill>
                <a:latin typeface="Arial"/>
                <a:ea typeface="Arial"/>
                <a:cs typeface="Arial"/>
              </a:rPr>
              <a:t>Uso local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E00702-BD9F-407D-8FF6-A54A3FA08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000375"/>
            <a:ext cx="695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382B"/>
                </a:solidFill>
                <a:latin typeface="Arial"/>
                <a:ea typeface="Arial"/>
                <a:cs typeface="Arial"/>
              </a:rPr>
              <a:t>Dos personas o una contra IA. Web Minecraft y consola básica.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F79245-BD29-4087-923F-F128983DE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0"/>
            <a:ext cx="361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1">
                <a:solidFill>
                  <a:srgbClr val="3563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356347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356347"/>
                </a:solidFill>
                <a:latin typeface="Arial"/>
                <a:ea typeface="Arial"/>
                <a:cs typeface="Arial"/>
              </a:rPr>
              <a:t>Estado recuperable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D99501-6A65-419B-BD54-997EC94EE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381500"/>
            <a:ext cx="695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382B"/>
                </a:solidFill>
                <a:latin typeface="Arial"/>
                <a:ea typeface="Arial"/>
                <a:cs typeface="Arial"/>
              </a:rPr>
              <a:t>Historial, capturas, puntos, undo/redo, guardado y cronómetro.</a:t>
            </a:r>
          </a:p>
        </p:txBody>
      </p:sp>
    </p:spTree>
    <p:extLst>
      <p:ext uri="{BB962C8B-B14F-4D97-AF65-F5344CB8AC3E}">
        <p14:creationId xmlns:p14="http://schemas.microsoft.com/office/powerpoint/2010/main" val="198676643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E81C51-AF2C-4A4C-9398-8474AC18E38D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7381875" y="1952625"/>
            <a:ext cx="1238250" cy="30956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56347"/>
            </a:solidFill>
            <a:prstDash val="solid"/>
            <a:tailEnd type="arrow" w="med" len="med"/>
          </a:ln>
        </p:spPr>
      </p:cxnSp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B76E37-3205-4ECC-B735-4C9A8EF90B2D}"/>
              </a:ext>
            </a:extLst>
          </p:cNvPr>
          <p:cNvCxnSpPr>
            <a:stCxn xmlns:a="http://schemas.openxmlformats.org/drawingml/2006/main" id="8" idx="0"/>
            <a:endCxn xmlns:a="http://schemas.openxmlformats.org/drawingml/2006/main" id="7" idx="2"/>
          </p:cNvCxnSpPr>
          <p:nvPr/>
        </p:nvCxnSpPr>
        <p:spPr>
          <a:xfrm xmlns:a="http://schemas.openxmlformats.org/drawingml/2006/main" flipV="1">
            <a:off x="10096500" y="2190750"/>
            <a:ext cx="0" cy="8096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56347"/>
            </a:solidFill>
            <a:prstDash val="dash"/>
            <a:tailEnd type="triangle" w="med" len="med"/>
          </a:ln>
        </p:spPr>
      </p:cxnSp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2A9619-AC54-46BF-A0DA-C4EB1A86B78A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 flipV="1">
            <a:off x="7381875" y="1833563"/>
            <a:ext cx="1238250" cy="11906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56347"/>
            </a:solidFill>
            <a:prstDash val="solid"/>
            <a:tailEnd type="arrow" w="med" len="med"/>
          </a:ln>
        </p:spPr>
      </p:cxnSp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CD410A-9EE3-42D9-8FEB-2F5057F78E83}"/>
              </a:ext>
            </a:extLst>
          </p:cNvPr>
          <p:cNvCxnSpPr>
            <a:stCxn xmlns:a="http://schemas.openxmlformats.org/drawingml/2006/main" id="6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2952750" y="4214813"/>
            <a:ext cx="1190625" cy="11906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56347"/>
            </a:solidFill>
            <a:prstDash val="solid"/>
            <a:tailEnd type="arrow" w="med" len="med"/>
          </a:ln>
        </p:spPr>
      </p:cxn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C14D75-FDCC-47D2-BB82-CFD4A8B55742}"/>
              </a:ext>
            </a:extLst>
          </p:cNvPr>
          <p:cNvCxnSpPr>
            <a:stCxn xmlns:a="http://schemas.openxmlformats.org/drawingml/2006/main" id="4" idx="2"/>
            <a:endCxn xmlns:a="http://schemas.openxmlformats.org/drawingml/2006/main" id="5" idx="0"/>
          </p:cNvCxnSpPr>
          <p:nvPr/>
        </p:nvCxnSpPr>
        <p:spPr>
          <a:xfrm xmlns:a="http://schemas.openxmlformats.org/drawingml/2006/main">
            <a:off x="5762625" y="2428875"/>
            <a:ext cx="0" cy="14287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56347"/>
            </a:solidFill>
            <a:prstDash val="solid"/>
            <a:tailEnd type="arrow" w="med" len="med"/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A30B85-2FBE-444E-80C1-3CDBAFAE6F88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2952750" y="1833563"/>
            <a:ext cx="1190625" cy="11906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56347"/>
            </a:solidFill>
            <a:prstDash val="solid"/>
            <a:tailEnd type="arrow" w="med" len="med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ABC24A-36F2-44D8-9A02-520F20102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 b="1">
                <a:solidFill>
                  <a:srgbClr val="20382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82B"/>
                </a:solidFill>
                <a:latin typeface="Arial"/>
                <a:ea typeface="Arial"/>
                <a:cs typeface="Arial"/>
              </a:rPr>
              <a:t>Puertos y adaptadores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9518EC-003C-4BDD-BDA9-E2F9CC188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4365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5264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45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5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3B22BE-C5EF-422C-B2D5-8C310DF12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76375"/>
            <a:ext cx="2333625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ED"/>
          </a:solidFill>
          <a:ln xmlns:a="http://schemas.openxmlformats.org/drawingml/2006/main" w="19050">
            <a:solidFill>
              <a:srgbClr val="356347"/>
            </a:solidFill>
          </a:ln>
        </p:spPr>
        <p:txBody>
          <a:bodyPr xmlns:a="http://schemas.openxmlformats.org/drawingml/2006/main" lIns="133350" tIns="133350" rIns="133350" bIns="133350"/>
          <a:lstStyle xmlns:a="http://schemas.openxmlformats.org/drawingml/2006/main">
            <a:defPPr>
              <a:defRPr sz="1875">
                <a:solidFill>
                  <a:srgbClr val="20382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20382B"/>
                </a:solidFill>
                <a:latin typeface="Arial"/>
                <a:ea typeface="Arial"/>
                <a:cs typeface="Arial"/>
              </a:rPr>
              <a:t>WebServer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B4C308-5572-44B0-B8A4-681DE051D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1476375"/>
            <a:ext cx="3238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ED"/>
          </a:solidFill>
          <a:ln xmlns:a="http://schemas.openxmlformats.org/drawingml/2006/main" w="19050">
            <a:solidFill>
              <a:srgbClr val="356347"/>
            </a:solidFill>
          </a:ln>
        </p:spPr>
        <p:txBody>
          <a:bodyPr xmlns:a="http://schemas.openxmlformats.org/drawingml/2006/main" lIns="133350" tIns="133350" rIns="133350" bIns="133350"/>
          <a:lstStyle xmlns:a="http://schemas.openxmlformats.org/drawingml/2006/main">
            <a:defPPr>
              <a:defRPr sz="1875">
                <a:solidFill>
                  <a:srgbClr val="20382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20382B"/>
                </a:solidFill>
                <a:latin typeface="Arial"/>
                <a:ea typeface="Arial"/>
                <a:cs typeface="Arial"/>
              </a:rPr>
              <a:t>IMatchService</a:t>
            </a:r>
          </a:p>
          <a:p xmlns:a="http://schemas.openxmlformats.org/drawingml/2006/main">
            <a:pPr>
              <a:defRPr sz="1875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20382B"/>
                </a:solidFill>
                <a:latin typeface="Arial"/>
                <a:ea typeface="Arial"/>
                <a:cs typeface="Arial"/>
              </a:rPr>
              <a:t>MatchSession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0E9633-EDBD-4F67-AD9D-356C2640D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3857625"/>
            <a:ext cx="3238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ED"/>
          </a:solidFill>
          <a:ln xmlns:a="http://schemas.openxmlformats.org/drawingml/2006/main" w="19050">
            <a:solidFill>
              <a:srgbClr val="356347"/>
            </a:solidFill>
          </a:ln>
        </p:spPr>
        <p:txBody>
          <a:bodyPr xmlns:a="http://schemas.openxmlformats.org/drawingml/2006/main" lIns="133350" tIns="133350" rIns="133350" bIns="133350"/>
          <a:lstStyle xmlns:a="http://schemas.openxmlformats.org/drawingml/2006/main">
            <a:defPPr>
              <a:defRPr sz="1875">
                <a:solidFill>
                  <a:srgbClr val="20382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20382B"/>
                </a:solidFill>
                <a:latin typeface="Arial"/>
                <a:ea typeface="Arial"/>
                <a:cs typeface="Arial"/>
              </a:rPr>
              <a:t>IGameService</a:t>
            </a:r>
          </a:p>
          <a:p xmlns:a="http://schemas.openxmlformats.org/drawingml/2006/main">
            <a:pPr>
              <a:defRPr sz="1875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20382B"/>
                </a:solidFill>
                <a:latin typeface="Arial"/>
                <a:ea typeface="Arial"/>
                <a:cs typeface="Arial"/>
              </a:rPr>
              <a:t>Game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F3C922-9820-4099-B592-3FCD0DDB1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57625"/>
            <a:ext cx="2333625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ED"/>
          </a:solidFill>
          <a:ln xmlns:a="http://schemas.openxmlformats.org/drawingml/2006/main" w="19050">
            <a:solidFill>
              <a:srgbClr val="356347"/>
            </a:solidFill>
          </a:ln>
        </p:spPr>
        <p:txBody>
          <a:bodyPr xmlns:a="http://schemas.openxmlformats.org/drawingml/2006/main" lIns="133350" tIns="133350" rIns="133350" bIns="133350"/>
          <a:lstStyle xmlns:a="http://schemas.openxmlformats.org/drawingml/2006/main">
            <a:defPPr>
              <a:defRPr sz="1875">
                <a:solidFill>
                  <a:srgbClr val="20382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20382B"/>
                </a:solidFill>
                <a:latin typeface="Arial"/>
                <a:ea typeface="Arial"/>
                <a:cs typeface="Arial"/>
              </a:rPr>
              <a:t>ConsoleUI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9F3947-6167-4917-9026-35175DE80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476375"/>
            <a:ext cx="295275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ED"/>
          </a:solidFill>
          <a:ln xmlns:a="http://schemas.openxmlformats.org/drawingml/2006/main" w="19050">
            <a:solidFill>
              <a:srgbClr val="356347"/>
            </a:solidFill>
          </a:ln>
        </p:spPr>
        <p:txBody>
          <a:bodyPr xmlns:a="http://schemas.openxmlformats.org/drawingml/2006/main" lIns="133350" tIns="133350" rIns="133350" bIns="133350"/>
          <a:lstStyle xmlns:a="http://schemas.openxmlformats.org/drawingml/2006/main">
            <a:defPPr>
              <a:defRPr sz="1875">
                <a:solidFill>
                  <a:srgbClr val="20382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20382B"/>
                </a:solidFill>
                <a:latin typeface="Arial"/>
                <a:ea typeface="Arial"/>
                <a:cs typeface="Arial"/>
              </a:rPr>
              <a:t>IGameRepository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DF8F2F-D79C-4989-83C6-58157D0C7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000375"/>
            <a:ext cx="295275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ED"/>
          </a:solidFill>
          <a:ln xmlns:a="http://schemas.openxmlformats.org/drawingml/2006/main" w="19050">
            <a:solidFill>
              <a:srgbClr val="356347"/>
            </a:solidFill>
          </a:ln>
        </p:spPr>
        <p:txBody>
          <a:bodyPr xmlns:a="http://schemas.openxmlformats.org/drawingml/2006/main" lIns="133350" tIns="133350" rIns="133350" bIns="133350"/>
          <a:lstStyle xmlns:a="http://schemas.openxmlformats.org/drawingml/2006/main">
            <a:defPPr>
              <a:defRPr sz="1875">
                <a:solidFill>
                  <a:srgbClr val="20382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20382B"/>
                </a:solidFill>
                <a:latin typeface="Arial"/>
                <a:ea typeface="Arial"/>
                <a:cs typeface="Arial"/>
              </a:rPr>
              <a:t>FileGameRepository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B39971-E650-4D5D-BF34-43A1D3C24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572000"/>
            <a:ext cx="29527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ED"/>
          </a:solidFill>
          <a:ln xmlns:a="http://schemas.openxmlformats.org/drawingml/2006/main" w="19050">
            <a:solidFill>
              <a:srgbClr val="356347"/>
            </a:solidFill>
          </a:ln>
        </p:spPr>
        <p:txBody>
          <a:bodyPr xmlns:a="http://schemas.openxmlformats.org/drawingml/2006/main" lIns="133350" tIns="133350" rIns="133350" bIns="133350"/>
          <a:lstStyle xmlns:a="http://schemas.openxmlformats.org/drawingml/2006/main">
            <a:defPPr>
              <a:defRPr sz="1875">
                <a:solidFill>
                  <a:srgbClr val="20382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20382B"/>
                </a:solidFill>
                <a:latin typeface="Arial"/>
                <a:ea typeface="Arial"/>
                <a:cs typeface="Arial"/>
              </a:rPr>
              <a:t>IChessAi</a:t>
            </a:r>
          </a:p>
          <a:p xmlns:a="http://schemas.openxmlformats.org/drawingml/2006/main">
            <a:pPr>
              <a:defRPr sz="1875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20382B"/>
                </a:solidFill>
                <a:latin typeface="Arial"/>
                <a:ea typeface="Arial"/>
                <a:cs typeface="Arial"/>
              </a:rPr>
              <a:t>MinimaxAi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BEE165-28C5-4BA2-9046-10E78F021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00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025" b="1">
                <a:solidFill>
                  <a:srgbClr val="3563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356347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356347"/>
                </a:solidFill>
                <a:latin typeface="Arial"/>
                <a:ea typeface="Arial"/>
                <a:cs typeface="Arial"/>
              </a:rPr>
              <a:t>core no importa HTTP, UI ni archivos</a:t>
            </a:r>
          </a:p>
        </p:txBody>
      </p:sp>
    </p:spTree>
    <p:extLst>
      <p:ext uri="{BB962C8B-B14F-4D97-AF65-F5344CB8AC3E}">
        <p14:creationId xmlns:p14="http://schemas.microsoft.com/office/powerpoint/2010/main" val="190214057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CE0778-DC07-495D-9E7A-7AFA37F3BDF3}"/>
              </a:ext>
            </a:extLst>
          </p:cNvPr>
          <p:cNvCxnSpPr>
            <a:stCxn xmlns:a="http://schemas.openxmlformats.org/drawingml/2006/main" id="5" idx="0"/>
            <a:endCxn xmlns:a="http://schemas.openxmlformats.org/drawingml/2006/main" id="4" idx="2"/>
          </p:cNvCxnSpPr>
          <p:nvPr/>
        </p:nvCxnSpPr>
        <p:spPr>
          <a:xfrm xmlns:a="http://schemas.openxmlformats.org/drawingml/2006/main" flipV="1">
            <a:off x="6596063" y="2667000"/>
            <a:ext cx="0" cy="11430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56347"/>
            </a:solidFill>
            <a:prstDash val="dash"/>
            <a:tailEnd type="triangle" w="med" len="med"/>
          </a:ln>
        </p:spPr>
      </p:cxnSp>
      <p:cxnSp>
        <p:nvCxn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3F42DC-9BA0-49B2-89DA-D467BD8CDEE9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3667125" y="2143125"/>
            <a:ext cx="1143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56347"/>
            </a:solidFill>
            <a:prstDash val="solid"/>
            <a:tailEnd type="arrow" w="med" len="med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B630B1-B7B9-415A-A527-08D7E09D0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 b="1">
                <a:solidFill>
                  <a:srgbClr val="20382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82B"/>
                </a:solidFill>
                <a:latin typeface="Arial"/>
                <a:ea typeface="Arial"/>
                <a:cs typeface="Arial"/>
              </a:rPr>
              <a:t>Strategy y composición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26B1C7-B574-42B7-AC02-0A56758F9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4365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5264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45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5A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6484CB-E909-4E13-9FA7-D6B213C92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19250"/>
            <a:ext cx="3048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ED"/>
          </a:solidFill>
          <a:ln xmlns:a="http://schemas.openxmlformats.org/drawingml/2006/main" w="19050">
            <a:solidFill>
              <a:srgbClr val="356347"/>
            </a:solidFill>
          </a:ln>
        </p:spPr>
        <p:txBody>
          <a:bodyPr xmlns:a="http://schemas.openxmlformats.org/drawingml/2006/main" lIns="133350" tIns="133350" rIns="133350" bIns="133350"/>
          <a:lstStyle xmlns:a="http://schemas.openxmlformats.org/drawingml/2006/main">
            <a:defPPr>
              <a:defRPr sz="1875">
                <a:solidFill>
                  <a:srgbClr val="20382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20382B"/>
                </a:solidFill>
                <a:latin typeface="Arial"/>
                <a:ea typeface="Arial"/>
                <a:cs typeface="Arial"/>
              </a:rPr>
              <a:t>Piece</a:t>
            </a:r>
          </a:p>
          <a:p xmlns:a="http://schemas.openxmlformats.org/drawingml/2006/main">
            <a:pPr>
              <a:defRPr sz="1875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20382B"/>
                </a:solidFill>
                <a:latin typeface="Arial"/>
                <a:ea typeface="Arial"/>
                <a:cs typeface="Arial"/>
              </a:rPr>
              <a:t>canMove / canAttack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3DBAEC-6191-4DB7-8C77-4A597F991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619250"/>
            <a:ext cx="35718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ED"/>
          </a:solidFill>
          <a:ln xmlns:a="http://schemas.openxmlformats.org/drawingml/2006/main" w="19050">
            <a:solidFill>
              <a:srgbClr val="356347"/>
            </a:solidFill>
          </a:ln>
        </p:spPr>
        <p:txBody>
          <a:bodyPr xmlns:a="http://schemas.openxmlformats.org/drawingml/2006/main" lIns="133350" tIns="133350" rIns="133350" bIns="133350"/>
          <a:lstStyle xmlns:a="http://schemas.openxmlformats.org/drawingml/2006/main">
            <a:defPPr>
              <a:defRPr sz="1875">
                <a:solidFill>
                  <a:srgbClr val="20382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20382B"/>
                </a:solidFill>
                <a:latin typeface="Arial"/>
                <a:ea typeface="Arial"/>
                <a:cs typeface="Arial"/>
              </a:rPr>
              <a:t>IMovementStrategy</a:t>
            </a:r>
          </a:p>
          <a:p xmlns:a="http://schemas.openxmlformats.org/drawingml/2006/main">
            <a:pPr>
              <a:defRPr sz="1875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20382B"/>
                </a:solidFill>
                <a:latin typeface="Arial"/>
                <a:ea typeface="Arial"/>
                <a:cs typeface="Arial"/>
              </a:rPr>
              <a:t>canMove / canAttack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2A723E-A25A-454B-9C6B-6B4AC62CA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810000"/>
            <a:ext cx="357187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ED"/>
          </a:solidFill>
          <a:ln xmlns:a="http://schemas.openxmlformats.org/drawingml/2006/main" w="19050">
            <a:solidFill>
              <a:srgbClr val="356347"/>
            </a:solidFill>
          </a:ln>
        </p:spPr>
        <p:txBody>
          <a:bodyPr xmlns:a="http://schemas.openxmlformats.org/drawingml/2006/main" lIns="133350" tIns="133350" rIns="133350" bIns="133350"/>
          <a:lstStyle xmlns:a="http://schemas.openxmlformats.org/drawingml/2006/main">
            <a:defPPr>
              <a:defRPr sz="1875">
                <a:solidFill>
                  <a:srgbClr val="20382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20382B"/>
                </a:solidFill>
                <a:latin typeface="Arial"/>
                <a:ea typeface="Arial"/>
                <a:cs typeface="Arial"/>
              </a:rPr>
              <a:t>QueenMovement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3E3E91-58E9-4E39-85B2-75B0690EE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1809750"/>
            <a:ext cx="95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382B"/>
                </a:solidFill>
                <a:latin typeface="Arial"/>
                <a:ea typeface="Arial"/>
                <a:cs typeface="Arial"/>
              </a:rPr>
              <a:t>Delega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8F7536-BF4F-4DA7-81E0-A79E327CB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143500"/>
            <a:ext cx="1047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82B"/>
                </a:solidFill>
                <a:latin typeface="Arial"/>
                <a:ea typeface="Arial"/>
                <a:cs typeface="Arial"/>
              </a:rPr>
              <a:t>La reina combina torre y alfil.</a:t>
            </a:r>
          </a:p>
          <a:p xmlns:a="http://schemas.openxmlformats.org/drawingml/2006/main">
            <a:pPr>
              <a:defRPr sz="2175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82B"/>
                </a:solidFill>
                <a:latin typeface="Arial"/>
                <a:ea typeface="Arial"/>
                <a:cs typeface="Arial"/>
              </a:rPr>
              <a:t>El peón diferencia avance y ataque.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8A577C-1038-4D93-A2E9-A713A5457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333750"/>
            <a:ext cx="3524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82B"/>
                </a:solidFill>
                <a:latin typeface="Arial"/>
                <a:ea typeface="Arial"/>
                <a:cs typeface="Arial"/>
              </a:rPr>
              <a:t>PieceFactory selecciona</a:t>
            </a:r>
          </a:p>
          <a:p xmlns:a="http://schemas.openxmlformats.org/drawingml/2006/main">
            <a:pPr>
              <a:defRPr sz="2175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82B"/>
                </a:solidFill>
                <a:latin typeface="Arial"/>
                <a:ea typeface="Arial"/>
                <a:cs typeface="Arial"/>
              </a:rPr>
              <a:t>la estrategia por PieceType.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C80DEB-DE4B-4821-B3B2-B75577F41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14500"/>
            <a:ext cx="2333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1">
                <a:solidFill>
                  <a:srgbClr val="3563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356347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356347"/>
                </a:solidFill>
                <a:latin typeface="Arial"/>
                <a:ea typeface="Arial"/>
                <a:cs typeface="Arial"/>
              </a:rPr>
              <a:t>Sin jerarquía</a:t>
            </a:r>
          </a:p>
          <a:p xmlns:a="http://schemas.openxmlformats.org/drawingml/2006/main">
            <a:pPr>
              <a:defRPr sz="2100" b="1">
                <a:solidFill>
                  <a:srgbClr val="356347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356347"/>
                </a:solidFill>
                <a:latin typeface="Arial"/>
                <a:ea typeface="Arial"/>
                <a:cs typeface="Arial"/>
              </a:rPr>
              <a:t>de piezas</a:t>
            </a:r>
          </a:p>
        </p:txBody>
      </p:sp>
    </p:spTree>
    <p:extLst>
      <p:ext uri="{BB962C8B-B14F-4D97-AF65-F5344CB8AC3E}">
        <p14:creationId xmlns:p14="http://schemas.microsoft.com/office/powerpoint/2010/main" val="136108125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0AAAE3-5867-4B98-8ACB-43FD90A5B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 b="1">
                <a:solidFill>
                  <a:srgbClr val="20382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82B"/>
                </a:solidFill>
                <a:latin typeface="Arial"/>
                <a:ea typeface="Arial"/>
                <a:cs typeface="Arial"/>
              </a:rPr>
              <a:t>Command para deshacer y rehacer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05F2D3-700B-4BFB-869A-64213A6B8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4365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5264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45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5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FEF7DD-61CE-43B0-9C22-1350E8EC9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361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1">
                <a:solidFill>
                  <a:srgbClr val="3563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356347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356347"/>
                </a:solidFill>
                <a:latin typeface="Arial"/>
                <a:ea typeface="Arial"/>
                <a:cs typeface="Arial"/>
              </a:rPr>
              <a:t>execute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901BAE-BC5F-497E-82A4-CE36752D4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524000"/>
            <a:ext cx="695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382B"/>
                </a:solidFill>
                <a:latin typeface="Arial"/>
                <a:ea typeface="Arial"/>
                <a:cs typeface="Arial"/>
              </a:rPr>
              <a:t>Aplica la jugada validada y sus efectos especiales.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86A502-3830-4EFF-A46C-F9661DF9B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361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1">
                <a:solidFill>
                  <a:srgbClr val="3563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356347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356347"/>
                </a:solidFill>
                <a:latin typeface="Arial"/>
                <a:ea typeface="Arial"/>
                <a:cs typeface="Arial"/>
              </a:rPr>
              <a:t>undo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D15EF8-DAA7-44AA-8257-6BE5E4B2B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714625"/>
            <a:ext cx="695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382B"/>
                </a:solidFill>
                <a:latin typeface="Arial"/>
                <a:ea typeface="Arial"/>
                <a:cs typeface="Arial"/>
              </a:rPr>
              <a:t>Restaura la copia previa, incluidos al paso y contador.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29D39E-E370-4635-AD32-7860EFD20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361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1">
                <a:solidFill>
                  <a:srgbClr val="3563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356347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356347"/>
                </a:solidFill>
                <a:latin typeface="Arial"/>
                <a:ea typeface="Arial"/>
                <a:cs typeface="Arial"/>
              </a:rPr>
              <a:t>redo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C80720-5C8F-4E95-91E1-06D5E9310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905250"/>
            <a:ext cx="695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382B"/>
                </a:solidFill>
                <a:latin typeface="Arial"/>
                <a:ea typeface="Arial"/>
                <a:cs typeface="Arial"/>
              </a:rPr>
              <a:t>Game vuelve a ejecutar el comando guardado.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880157-BD88-4F0A-9051-6A9C16C27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76875"/>
            <a:ext cx="1076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1">
                <a:solidFill>
                  <a:srgbClr val="3563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356347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356347"/>
                </a:solidFill>
                <a:latin typeface="Arial"/>
                <a:ea typeface="Arial"/>
                <a:cs typeface="Arial"/>
              </a:rPr>
              <a:t>Una jugada nueva descarta el futuro. Un rechazo lo conserva.</a:t>
            </a:r>
          </a:p>
        </p:txBody>
      </p:sp>
    </p:spTree>
    <p:extLst>
      <p:ext uri="{BB962C8B-B14F-4D97-AF65-F5344CB8AC3E}">
        <p14:creationId xmlns:p14="http://schemas.microsoft.com/office/powerpoint/2010/main" val="5623866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011E39-CC98-4655-AA49-50D7836FE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 b="1">
                <a:solidFill>
                  <a:srgbClr val="20382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82B"/>
                </a:solidFill>
                <a:latin typeface="Arial"/>
                <a:ea typeface="Arial"/>
                <a:cs typeface="Arial"/>
              </a:rPr>
              <a:t>Validación sin texto de pantalla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9FB094-5D7A-4C99-AB4A-1BB464AB9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4365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5264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45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5A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51E9F1-EE43-4A98-8798-4962FE91D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428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 b="1">
                <a:solidFill>
                  <a:srgbClr val="3563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356347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356347"/>
                </a:solidFill>
                <a:latin typeface="Arial"/>
                <a:ea typeface="Arial"/>
                <a:cs typeface="Arial"/>
              </a:rPr>
              <a:t>MoveValidator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61B049-32EA-4CE6-800E-9974270BC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4572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250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0382B"/>
                </a:solidFill>
                <a:latin typeface="Arial"/>
                <a:ea typeface="Arial"/>
                <a:cs typeface="Arial"/>
              </a:rPr>
              <a:t>VALID</a:t>
            </a:r>
          </a:p>
          <a:p xmlns:a="http://schemas.openxmlformats.org/drawingml/2006/main">
            <a:pPr>
              <a:defRPr sz="2250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0382B"/>
                </a:solidFill>
                <a:latin typeface="Arial"/>
                <a:ea typeface="Arial"/>
                <a:cs typeface="Arial"/>
              </a:rPr>
              <a:t>WRONG_TURN</a:t>
            </a:r>
          </a:p>
          <a:p xmlns:a="http://schemas.openxmlformats.org/drawingml/2006/main">
            <a:pPr>
              <a:defRPr sz="2250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0382B"/>
                </a:solidFill>
                <a:latin typeface="Arial"/>
                <a:ea typeface="Arial"/>
                <a:cs typeface="Arial"/>
              </a:rPr>
              <a:t>KING_EXPOSED</a:t>
            </a:r>
          </a:p>
          <a:p xmlns:a="http://schemas.openxmlformats.org/drawingml/2006/main">
            <a:pPr>
              <a:defRPr sz="2250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0382B"/>
                </a:solidFill>
                <a:latin typeface="Arial"/>
                <a:ea typeface="Arial"/>
                <a:cs typeface="Arial"/>
              </a:rPr>
              <a:t>Otros motivos semánticos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606C61-0F71-4DC3-A9B6-BB42C6E09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533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 b="1">
                <a:solidFill>
                  <a:srgbClr val="3563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356347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356347"/>
                </a:solidFill>
                <a:latin typeface="Arial"/>
                <a:ea typeface="Arial"/>
                <a:cs typeface="Arial"/>
              </a:rPr>
              <a:t>WebServer y ConsoleUI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63E82F-7E83-4924-B7AB-486E9DEE3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81250"/>
            <a:ext cx="5334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82B"/>
                </a:solidFill>
                <a:latin typeface="Arial"/>
                <a:ea typeface="Arial"/>
                <a:cs typeface="Arial"/>
              </a:rPr>
              <a:t>MoveMessages traduce el motivo</a:t>
            </a:r>
          </a:p>
          <a:p xmlns:a="http://schemas.openxmlformats.org/drawingml/2006/main">
            <a:pPr>
              <a:defRPr sz="2175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82B"/>
                </a:solidFill>
                <a:latin typeface="Arial"/>
                <a:ea typeface="Arial"/>
                <a:cs typeface="Arial"/>
              </a:rPr>
              <a:t>a un mensaje amigable.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82B"/>
                </a:solidFill>
                <a:latin typeface="Arial"/>
                <a:ea typeface="Arial"/>
                <a:cs typeface="Arial"/>
              </a:rPr>
              <a:t>Los rechazos normales no</a:t>
            </a:r>
          </a:p>
          <a:p xmlns:a="http://schemas.openxmlformats.org/drawingml/2006/main">
            <a:pPr>
              <a:defRPr sz="2175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82B"/>
                </a:solidFill>
                <a:latin typeface="Arial"/>
                <a:ea typeface="Arial"/>
                <a:cs typeface="Arial"/>
              </a:rPr>
              <a:t>se representan con excepciones.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F43BB2-0A00-4A70-A8BD-57F343D7F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1">
                <a:solidFill>
                  <a:srgbClr val="3563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356347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356347"/>
                </a:solidFill>
                <a:latin typeface="Arial"/>
                <a:ea typeface="Arial"/>
                <a:cs typeface="Arial"/>
              </a:rPr>
              <a:t>Los tests del dominio comparan motivos, no frases de UI.</a:t>
            </a:r>
          </a:p>
        </p:txBody>
      </p:sp>
    </p:spTree>
    <p:extLst>
      <p:ext uri="{BB962C8B-B14F-4D97-AF65-F5344CB8AC3E}">
        <p14:creationId xmlns:p14="http://schemas.microsoft.com/office/powerpoint/2010/main" val="68576843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702F6D-AA4F-4F9E-AE76-703ED64DF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 b="1">
                <a:solidFill>
                  <a:srgbClr val="20382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82B"/>
                </a:solidFill>
                <a:latin typeface="Arial"/>
                <a:ea typeface="Arial"/>
                <a:cs typeface="Arial"/>
              </a:rPr>
              <a:t>Persistencia y tiempo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AEE7D9-3EAD-4029-B2C3-D0C4A87FA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4365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5264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45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5A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2585F4-9814-4509-9970-A1B9D5B53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361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1">
                <a:solidFill>
                  <a:srgbClr val="3563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356347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356347"/>
                </a:solidFill>
                <a:latin typeface="Arial"/>
                <a:ea typeface="Arial"/>
                <a:cs typeface="Arial"/>
              </a:rPr>
              <a:t>Guardado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F01E50-2393-4E27-842F-E50B5AE38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476375"/>
            <a:ext cx="695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382B"/>
                </a:solidFill>
                <a:latin typeface="Arial"/>
                <a:ea typeface="Arial"/>
                <a:cs typeface="Arial"/>
              </a:rPr>
              <a:t>SavedMatch guarda movimientos, cursor, modo, nivel y tiempos.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A4D019-7545-4BDC-838A-5DAA6695A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361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1">
                <a:solidFill>
                  <a:srgbClr val="3563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356347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356347"/>
                </a:solidFill>
                <a:latin typeface="Arial"/>
                <a:ea typeface="Arial"/>
                <a:cs typeface="Arial"/>
              </a:rPr>
              <a:t>Recuperación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1D42FC-4B59-4CA7-98C4-8FEB64477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667000"/>
            <a:ext cx="695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382B"/>
                </a:solidFill>
                <a:latin typeface="Arial"/>
                <a:ea typeface="Arial"/>
                <a:cs typeface="Arial"/>
              </a:rPr>
              <a:t>La sesión reproduce las jugadas y deshace hasta el cursor.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53DEFD-0B52-49D3-81AC-414B69C98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361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1">
                <a:solidFill>
                  <a:srgbClr val="3563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356347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356347"/>
                </a:solidFill>
                <a:latin typeface="Arial"/>
                <a:ea typeface="Arial"/>
                <a:cs typeface="Arial"/>
              </a:rPr>
              <a:t>Fallo de escritura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27CD57-95C2-4B8B-8DB4-87A2ADB8E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857625"/>
            <a:ext cx="695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382B"/>
                </a:solidFill>
                <a:latin typeface="Arial"/>
                <a:ea typeface="Arial"/>
                <a:cs typeface="Arial"/>
              </a:rPr>
              <a:t>La operación se revierte. El repositorio escribe primero un temporal.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1B2548-CD98-4BC5-B8FD-52E241B92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1">
                <a:solidFill>
                  <a:srgbClr val="3563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356347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356347"/>
                </a:solidFill>
                <a:latin typeface="Arial"/>
                <a:ea typeface="Arial"/>
                <a:cs typeface="Arial"/>
              </a:rPr>
              <a:t>El reloj incluye cierres y se detiene al terminar la partida.</a:t>
            </a:r>
          </a:p>
        </p:txBody>
      </p:sp>
    </p:spTree>
    <p:extLst>
      <p:ext uri="{BB962C8B-B14F-4D97-AF65-F5344CB8AC3E}">
        <p14:creationId xmlns:p14="http://schemas.microsoft.com/office/powerpoint/2010/main" val="59509633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69C52A-1A5C-48F7-AF2A-54FBE7A7A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 b="1">
                <a:solidFill>
                  <a:srgbClr val="20382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82B"/>
                </a:solidFill>
                <a:latin typeface="Arial"/>
                <a:ea typeface="Arial"/>
                <a:cs typeface="Arial"/>
              </a:rPr>
              <a:t>Decisiones y condiciones de cambio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ED25CF-C50B-4354-8DCE-5A1E78E7A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4365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5264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45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5A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F9CD54-C9C3-4210-98AF-262CA51FB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361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1">
                <a:solidFill>
                  <a:srgbClr val="3563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356347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356347"/>
                </a:solidFill>
                <a:latin typeface="Arial"/>
                <a:ea typeface="Arial"/>
                <a:cs typeface="Arial"/>
              </a:rPr>
              <a:t>Tablero 8×8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7E7069-0C5E-44B7-9BD8-0A6BB23D4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524000"/>
            <a:ext cx="695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382B"/>
                </a:solidFill>
                <a:latin typeface="Arial"/>
                <a:ea typeface="Arial"/>
                <a:cs typeface="Arial"/>
              </a:rPr>
              <a:t>Se conserva por KISS. Cambiaría ante una variante concreta.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FDB442-936C-4A5E-80C0-E82C4CE2A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361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1">
                <a:solidFill>
                  <a:srgbClr val="3563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356347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356347"/>
                </a:solidFill>
                <a:latin typeface="Arial"/>
                <a:ea typeface="Arial"/>
                <a:cs typeface="Arial"/>
              </a:rPr>
              <a:t>Fábrica simple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2EDF5D-2EF2-469F-92D2-A6A2DCB24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57500"/>
            <a:ext cx="695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382B"/>
                </a:solidFill>
                <a:latin typeface="Arial"/>
                <a:ea typeface="Arial"/>
                <a:cs typeface="Arial"/>
              </a:rPr>
              <a:t>Centraliza una decisión real. Un catálogo dinámico requeriría otra necesidad.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0B6195-02AE-422A-99A4-43341BF38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361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1">
                <a:solidFill>
                  <a:srgbClr val="3563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356347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356347"/>
                </a:solidFill>
                <a:latin typeface="Arial"/>
                <a:ea typeface="Arial"/>
                <a:cs typeface="Arial"/>
              </a:rPr>
              <a:t>Inyección manual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B457E2-C394-4FF2-87D0-579ECF34B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191000"/>
            <a:ext cx="695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382B"/>
                </a:solidFill>
                <a:latin typeface="Arial"/>
                <a:ea typeface="Arial"/>
                <a:cs typeface="Arial"/>
              </a:rPr>
              <a:t>Puertos para repositorio e IA y Clock sustituible. Sin Spring ni contenedor de DI.</a:t>
            </a:r>
          </a:p>
        </p:txBody>
      </p:sp>
    </p:spTree>
    <p:extLst>
      <p:ext uri="{BB962C8B-B14F-4D97-AF65-F5344CB8AC3E}">
        <p14:creationId xmlns:p14="http://schemas.microsoft.com/office/powerpoint/2010/main" val="195301119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81C4F0-D1AA-4A52-8BDC-C5C6DEADD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 b="1">
                <a:solidFill>
                  <a:srgbClr val="20382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82B"/>
                </a:solidFill>
                <a:latin typeface="Arial"/>
                <a:ea typeface="Arial"/>
                <a:cs typeface="Arial"/>
              </a:rPr>
              <a:t>Extensión durante la defensa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3E1BB7-27BF-4977-BB42-2B2AA875E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4365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5264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45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5A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220F6F-2797-48B2-B0BE-D165F4A8B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504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75" b="1">
                <a:solidFill>
                  <a:srgbClr val="3563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75" b="1">
                <a:solidFill>
                  <a:srgbClr val="356347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356347"/>
                </a:solidFill>
                <a:latin typeface="Arial"/>
                <a:ea typeface="Arial"/>
                <a:cs typeface="Arial"/>
              </a:rPr>
              <a:t>Una pieza nueva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4996DE-D9A7-40D9-B13A-C0CC1BDB4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51435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382B"/>
                </a:solidFill>
                <a:latin typeface="Arial"/>
                <a:ea typeface="Arial"/>
                <a:cs typeface="Arial"/>
              </a:rPr>
              <a:t>Implementar su estrategia.</a:t>
            </a:r>
          </a:p>
          <a:p xmlns:a="http://schemas.openxmlformats.org/drawingml/2006/main">
            <a:pPr>
              <a:defRPr sz="2100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382B"/>
                </a:solidFill>
                <a:latin typeface="Arial"/>
                <a:ea typeface="Arial"/>
                <a:cs typeface="Arial"/>
              </a:rPr>
              <a:t>Configurar PieceType y PieceFactory.</a:t>
            </a:r>
          </a:p>
          <a:p xmlns:a="http://schemas.openxmlformats.org/drawingml/2006/main">
            <a:pPr>
              <a:defRPr sz="2100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382B"/>
                </a:solidFill>
                <a:latin typeface="Arial"/>
                <a:ea typeface="Arial"/>
                <a:cs typeface="Arial"/>
              </a:rPr>
              <a:t>Adaptar setup y representación.</a:t>
            </a:r>
          </a:p>
          <a:p xmlns:a="http://schemas.openxmlformats.org/drawingml/2006/main">
            <a:pPr>
              <a:defRPr sz="2100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382B"/>
                </a:solidFill>
                <a:latin typeface="Arial"/>
                <a:ea typeface="Arial"/>
                <a:cs typeface="Arial"/>
              </a:rPr>
              <a:t>Probar ataques y seguridad del rey.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43FE17-16D9-4C83-8413-6025FDBF2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571625"/>
            <a:ext cx="504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75" b="1">
                <a:solidFill>
                  <a:srgbClr val="3563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75" b="1">
                <a:solidFill>
                  <a:srgbClr val="356347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356347"/>
                </a:solidFill>
                <a:latin typeface="Arial"/>
                <a:ea typeface="Arial"/>
                <a:cs typeface="Arial"/>
              </a:rPr>
              <a:t>Otro tamaño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0E0DF6-1F05-403F-BD33-446103C55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33625"/>
            <a:ext cx="5095875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382B"/>
                </a:solidFill>
                <a:latin typeface="Arial"/>
                <a:ea typeface="Arial"/>
                <a:cs typeface="Arial"/>
              </a:rPr>
              <a:t>Definir primero las reglas.</a:t>
            </a:r>
          </a:p>
          <a:p xmlns:a="http://schemas.openxmlformats.org/drawingml/2006/main">
            <a:pPr>
              <a:defRPr sz="2100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382B"/>
                </a:solidFill>
                <a:latin typeface="Arial"/>
                <a:ea typeface="Arial"/>
                <a:cs typeface="Arial"/>
              </a:rPr>
              <a:t>Adaptar Board y Position.</a:t>
            </a:r>
          </a:p>
          <a:p xmlns:a="http://schemas.openxmlformats.org/drawingml/2006/main">
            <a:pPr>
              <a:defRPr sz="2100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382B"/>
                </a:solidFill>
                <a:latin typeface="Arial"/>
                <a:ea typeface="Arial"/>
                <a:cs typeface="Arial"/>
              </a:rPr>
              <a:t>Revisar recorridos y jugadas especiales.</a:t>
            </a:r>
          </a:p>
          <a:p xmlns:a="http://schemas.openxmlformats.org/drawingml/2006/main">
            <a:pPr>
              <a:defRPr sz="2100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382B"/>
                </a:solidFill>
                <a:latin typeface="Arial"/>
                <a:ea typeface="Arial"/>
                <a:cs typeface="Arial"/>
              </a:rPr>
              <a:t>Actualizar UI y formato de guardado.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020644-6C94-4ABC-B728-C7DFE312E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72125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025" b="1">
                <a:solidFill>
                  <a:srgbClr val="3563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356347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356347"/>
                </a:solidFill>
                <a:latin typeface="Arial"/>
                <a:ea typeface="Arial"/>
                <a:cs typeface="Arial"/>
              </a:rPr>
              <a:t>OCP se aplica al comportamiento. La configuración central puede cambiar.</a:t>
            </a:r>
          </a:p>
        </p:txBody>
      </p:sp>
    </p:spTree>
    <p:extLst>
      <p:ext uri="{BB962C8B-B14F-4D97-AF65-F5344CB8AC3E}">
        <p14:creationId xmlns:p14="http://schemas.microsoft.com/office/powerpoint/2010/main" val="5757508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9AED05-671A-48DD-9E29-9E5A6540C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 b="1">
                <a:solidFill>
                  <a:srgbClr val="20382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82B"/>
                </a:solidFill>
                <a:latin typeface="Arial"/>
                <a:ea typeface="Arial"/>
                <a:cs typeface="Arial"/>
              </a:rPr>
              <a:t>Pruebas y regresiones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C602E0-E149-4B9B-AD7D-664F5593D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4365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5264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45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5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D9A3FA-7DC5-43FE-ABD3-55A3AB729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47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900" b="1">
                <a:solidFill>
                  <a:srgbClr val="3563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900" b="1">
                <a:solidFill>
                  <a:srgbClr val="356347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356347"/>
                </a:solidFill>
                <a:latin typeface="Arial"/>
                <a:ea typeface="Arial"/>
                <a:cs typeface="Arial"/>
              </a:rPr>
              <a:t>53 pruebas aprobadas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07E81F-7912-495D-8413-E0D3340E7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361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1">
                <a:solidFill>
                  <a:srgbClr val="3563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356347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356347"/>
                </a:solidFill>
                <a:latin typeface="Arial"/>
                <a:ea typeface="Arial"/>
                <a:cs typeface="Arial"/>
              </a:rPr>
              <a:t>47 conservadas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AB9F92-8C32-4361-AEFD-2EE2769E6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714625"/>
            <a:ext cx="695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382B"/>
                </a:solidFill>
                <a:latin typeface="Arial"/>
                <a:ea typeface="Arial"/>
                <a:cs typeface="Arial"/>
              </a:rPr>
              <a:t>Reglas, IA, sesión, persistencia y perft 20 / 400 / 8902.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44BE66-0A7F-4392-B987-CD72FAD22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361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1">
                <a:solidFill>
                  <a:srgbClr val="3563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356347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356347"/>
                </a:solidFill>
                <a:latin typeface="Arial"/>
                <a:ea typeface="Arial"/>
                <a:cs typeface="Arial"/>
              </a:rPr>
              <a:t>6 agregadas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AC22B6-9F1A-4920-812D-5EB919088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000500"/>
            <a:ext cx="695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382B"/>
                </a:solidFill>
                <a:latin typeface="Arial"/>
                <a:ea typeface="Arial"/>
                <a:cs typeface="Arial"/>
              </a:rPr>
              <a:t>Motivos tipados, traducción e invariantes. Trayectorias inválidas que terminan.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F1BC3F-8E3F-43B2-A2C7-5B1932EA1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67375"/>
            <a:ext cx="1085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5264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52645A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45A"/>
                </a:solidFill>
                <a:latin typeface="Arial"/>
                <a:ea typeface="Arial"/>
                <a:cs typeface="Arial"/>
              </a:rPr>
              <a:t>Sin navegador ni red. Una integración existente usa @TempDir.</a:t>
            </a:r>
          </a:p>
        </p:txBody>
      </p:sp>
    </p:spTree>
    <p:extLst>
      <p:ext uri="{BB962C8B-B14F-4D97-AF65-F5344CB8AC3E}">
        <p14:creationId xmlns:p14="http://schemas.microsoft.com/office/powerpoint/2010/main" val="180533535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2B9F0B-0D0D-40AD-A2FB-DDCAC1429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 b="1">
                <a:solidFill>
                  <a:srgbClr val="20382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82B"/>
                </a:solidFill>
                <a:latin typeface="Arial"/>
                <a:ea typeface="Arial"/>
                <a:cs typeface="Arial"/>
              </a:rPr>
              <a:t>Recorrido para la demostración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5C08D3-ED38-47F5-9F82-1B7BEF6AE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4365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5264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45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5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5C3FE-73F1-45A6-A0E3-167B6D651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361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1">
                <a:solidFill>
                  <a:srgbClr val="3563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356347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356347"/>
                </a:solidFill>
                <a:latin typeface="Arial"/>
                <a:ea typeface="Arial"/>
                <a:cs typeface="Arial"/>
              </a:rPr>
              <a:t>Juego y restauración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CD4AB4-DA5B-478C-A0CD-6910CC862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524000"/>
            <a:ext cx="695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382B"/>
                </a:solidFill>
                <a:latin typeface="Arial"/>
                <a:ea typeface="Arial"/>
                <a:cs typeface="Arial"/>
              </a:rPr>
              <a:t>Mover, capturar, deshacer y rehacer. Mostrar puntaje e historial.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E7DB20-A91D-49FD-A3C0-7DD13BD8E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361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1">
                <a:solidFill>
                  <a:srgbClr val="3563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356347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356347"/>
                </a:solidFill>
                <a:latin typeface="Arial"/>
                <a:ea typeface="Arial"/>
                <a:cs typeface="Arial"/>
              </a:rPr>
              <a:t>Código y UML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377485-3205-4942-B17D-CC7655A88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57500"/>
            <a:ext cx="695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382B"/>
                </a:solidFill>
                <a:latin typeface="Arial"/>
                <a:ea typeface="Arial"/>
                <a:cs typeface="Arial"/>
              </a:rPr>
              <a:t>Seguir StandardGame, Piece, MoveValidator y MoveCommand.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487289-85EF-4453-9834-FA546C0BA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361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1">
                <a:solidFill>
                  <a:srgbClr val="3563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356347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356347"/>
                </a:solidFill>
                <a:latin typeface="Arial"/>
                <a:ea typeface="Arial"/>
                <a:cs typeface="Arial"/>
              </a:rPr>
              <a:t>Verificación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F7C691-73A3-4247-B55E-C51CB3AE6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191000"/>
            <a:ext cx="695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0382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382B"/>
                </a:solidFill>
                <a:latin typeface="Arial"/>
                <a:ea typeface="Arial"/>
                <a:cs typeface="Arial"/>
              </a:rPr>
              <a:t>Ejecutar mvn test y explicar cuándo cambiaría cada decisión.</a:t>
            </a:r>
          </a:p>
        </p:txBody>
      </p:sp>
    </p:spTree>
    <p:extLst>
      <p:ext uri="{BB962C8B-B14F-4D97-AF65-F5344CB8AC3E}">
        <p14:creationId xmlns:p14="http://schemas.microsoft.com/office/powerpoint/2010/main" val="404142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2026-10-16T17:49:53.2150000Z</dcterms:created>
  <dcterms:modified xsi:type="dcterms:W3CDTF">2026-10-16T17:49:53.2150000Z</dcterms:modified>
</coreProperties>
</file>